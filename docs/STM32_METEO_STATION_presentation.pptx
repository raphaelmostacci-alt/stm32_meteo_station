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89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[Personne 1] Bonjour a toutes et a tous.</a:t>
            </a:r>
          </a:p>
          <a:p>
            <a:r>
              <a:rPr sz="1200">
                <a:latin typeface="Calibri"/>
              </a:rPr>
              <a:t>Aujourd'hui on vous presente notre projet de fin de module: une station meteo embarquee sur STM32.</a:t>
            </a:r>
          </a:p>
          <a:p>
            <a:r>
              <a:rPr sz="1200">
                <a:latin typeface="Calibri"/>
              </a:rPr>
              <a:t>L'idee est simple: utiliser la carte NUCLEO-L152RE et le shield X-NUCLEO-IKS01A3 pour mesurer en continu la temperature, l'humidite et la pression d'une piece, et publier ces valeurs sur un PC via la liaison serie.</a:t>
            </a:r>
          </a:p>
          <a:p>
            <a:r>
              <a:rPr sz="1200">
                <a:latin typeface="Calibri"/>
              </a:rPr>
              <a:t>L'utilisateur peut meme entrer le nom de sa ville sur le terminal pour le voir apparaitre dans les logs - on en reparle plus loin.</a:t>
            </a:r>
          </a:p>
          <a:p>
            <a:r>
              <a:rPr sz="1200">
                <a:latin typeface="Calibri"/>
              </a:rPr>
              <a:t>Notre presentation va suivre 6 etapes : application, solution technique, defis, resolution, demo en direct, et conclusion. On parle a tour de role: moi pour les deux premieres slides, [Personne 2] pour les defis et la resolution, et [Personne 3] pour la demo et la conclusion.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[Personne 1] Concretement, notre montage tient sur deux cartes empilees.</a:t>
            </a:r>
          </a:p>
          <a:p>
            <a:r>
              <a:rPr sz="1200">
                <a:latin typeface="Calibri"/>
              </a:rPr>
              <a:t>Cote materiel, la NUCLEO porte le MCU STM32L152, et le shield IKS01A3 apporte trois capteurs environnementaux : HTS221 pour l'humidite, LPS22HH pour la pression, et STTS751 pour la temperature. Les trois capteurs partagent le meme bus I2C1 sur les broches PB8 et PB9. La liaison UART passe par l'USART2 a 115200 bauds, directement par le port USB ST-LINK - donc pas besoin de cable supplementaire.</a:t>
            </a:r>
          </a:p>
          <a:p>
            <a:r>
              <a:rPr sz="1200">
                <a:latin typeface="Calibri"/>
              </a:rPr>
              <a:t>Cote logiciel, on a fait genere le squelette par CubeMX, et on a ajoute notre propre module weather.c qui regroupe l'init des capteurs, la lecture, le pilotage des LEDs et le format UART. Le projet repose entierement sur un pattern flag-driven : les ISR ne font que lever des drapeaux volatile, et tout le travail reel est fait dans la boucle while(1). Ca garantit qu'on ne bloque jamais le CPU dans une interruption.</a:t>
            </a:r>
          </a:p>
          <a:p>
            <a:r>
              <a:rPr sz="1200">
                <a:latin typeface="Calibri"/>
              </a:rPr>
              <a:t>Les chiffres cles en bas resument : trois capteurs, trois peripheriques en interruption - donc largement au-dessus des deux exigees - un cycle de mesure par seconde, et un debit UART de 115200 bauds.</a:t>
            </a:r>
          </a:p>
          <a:p>
            <a:r>
              <a:rPr sz="1200">
                <a:latin typeface="Calibri"/>
              </a:rPr>
              <a:t>Je passe la main a [Personne 2] qui va vous expliquer les defis qu'on a rencontres.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[Personne 2] Merci [Personne 1]. Concevoir une station meteo embarquee, ce n'est pas juste lire un capteur et l'afficher. On a identifie quatre defis principaux.</a:t>
            </a:r>
          </a:p>
          <a:p>
            <a:r>
              <a:rPr sz="1200">
                <a:latin typeface="Calibri"/>
              </a:rPr>
              <a:t>Premier defi : l'acquisition periodique. Il faut une mesure pile chaque seconde, sans utiliser de delay bloquant qui figerait tout le systeme. La solution evidente c'est un timer materiel.</a:t>
            </a:r>
          </a:p>
          <a:p>
            <a:r>
              <a:rPr sz="1200">
                <a:latin typeface="Calibri"/>
              </a:rPr>
              <a:t>Deuxieme defi : les interruptions. Le sujet impose qu'au moins deux peripheriques tournent en mode interruption. Nous, on en a trois - TIM6, le bouton EXTI13 et la reception UART - et il faut qu'ils cohabitent sans se marcher dessus. Notamment le bouton, qui rebondit physiquement, il a fallu un anti-rebond logiciel.</a:t>
            </a:r>
          </a:p>
          <a:p>
            <a:r>
              <a:rPr sz="1200">
                <a:latin typeface="Calibri"/>
              </a:rPr>
              <a:t>Troisieme defi : la robustesse. Trois capteurs sur le meme bus I2C, ca veut dire que si l'un tombe en panne ou est mal branche, il faut que le firmware continue a publier les deux autres et signale la panne clairement - dans notre cas par une LED rouge.</a:t>
            </a:r>
          </a:p>
          <a:p>
            <a:r>
              <a:rPr sz="1200">
                <a:latin typeface="Calibri"/>
              </a:rPr>
              <a:t>Quatrieme defi, celui qui a demande le plus de soin : permettre a l'utilisateur de saisir la ville sur le terminal. Concretement, recevoir l'UART caractere par caractere en interruption, mettre la telemetrie en pause pour laisser l'utilisateur taper, et reprendre des qu'il appuie sur Entree.</a:t>
            </a:r>
          </a:p>
          <a:p>
            <a:r>
              <a:rPr sz="1200">
                <a:latin typeface="Calibri"/>
              </a:rPr>
              <a:t>Maintenant je vais vous expliquer comment on a resolu tout ca.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[Personne 2] Notre reponse, c'est une architecture flag-driven, illustree dans le diagramme a gauche.</a:t>
            </a:r>
          </a:p>
          <a:p>
            <a:r>
              <a:rPr sz="1200">
                <a:latin typeface="Calibri"/>
              </a:rPr>
              <a:t>A gauche les trois interruptions : TIM6, le bouton et la reception UART. Chacune ne fait qu'une chose - poser un drapeau volatile - et rend la main. Aucune lecture I2C, aucun printf dans une ISR.</a:t>
            </a:r>
          </a:p>
          <a:p>
            <a:r>
              <a:rPr sz="1200">
                <a:latin typeface="Calibri"/>
              </a:rPr>
              <a:t>Au centre, la boucle while(1) tourne en permanence et consulte ces drapeaux. Quand sample_flag est leve, elle lance la lecture I2C des trois capteurs, formate la ligne METEO et l'envoie sur l'UART. Quand ask_city est leve, elle affiche le prompt et met le drapeau g_paused a 1, ce qui suspend la telemetrie. Quand city_ready est leve, elle copie le buffer, affiche la confirmation et relance la mesure.</a:t>
            </a:r>
          </a:p>
          <a:p>
            <a:r>
              <a:rPr sz="1200">
                <a:latin typeface="Calibri"/>
              </a:rPr>
              <a:t>A droite, les benefices : tout est non bloquant, on a un anti-rebond robuste sur le bouton, l'interaction utilisateur ne se fait pas au detriment de la mesure, et la robustesse des capteurs est verifiee a chaque appel BSP.</a:t>
            </a:r>
          </a:p>
          <a:p>
            <a:r>
              <a:rPr sz="1200">
                <a:latin typeface="Calibri"/>
              </a:rPr>
              <a:t>[Personne 3], a toi pour la demo en direct.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[Personne 3] Merci. Je vais vous montrer le projet en marche.</a:t>
            </a:r>
          </a:p>
          <a:p>
            <a:r>
              <a:rPr sz="1200">
                <a:latin typeface="Calibri"/>
              </a:rPr>
              <a:t>(Brancher la carte, ouvrir TeraTerm sur 115200 baud, appuyer sur reset.)</a:t>
            </a:r>
          </a:p>
          <a:p>
            <a:r>
              <a:rPr sz="1200">
                <a:latin typeface="Calibri"/>
              </a:rPr>
              <a:t>Etape 1, le reset. La banniere apparait, on voit que les trois capteurs - HTS221, LPS22HH et STTS751 - se sont initialises correctement.</a:t>
            </a:r>
          </a:p>
          <a:p>
            <a:r>
              <a:rPr sz="1200">
                <a:latin typeface="Calibri"/>
              </a:rPr>
              <a:t>Etape 2, je tape une ville. Notez qu'aucune ligne METEO n'apparait pendant que je tape - c'est la pause dont parlait [Personne 2]. Je valide avec Entree.</a:t>
            </a:r>
          </a:p>
          <a:p>
            <a:r>
              <a:rPr sz="1200">
                <a:latin typeface="Calibri"/>
              </a:rPr>
              <a:t>Etape 3, des que c'est valide, la telemetrie redemarre. Une ligne par seconde, avec la temperature, l'humidite et la pression mesurees, et le nom de la ville. La LED verte LD2 clignote au rythme du timer TIM6.</a:t>
            </a:r>
          </a:p>
          <a:p>
            <a:r>
              <a:rPr sz="1200">
                <a:latin typeface="Calibri"/>
              </a:rPr>
              <a:t>Etape 4, je souffle doucement sur le shield. Vous voyez que l'humidite monte de quelques pourcents, et la temperature aussi un peu - les capteurs reagissent bien au monde reel.</a:t>
            </a:r>
          </a:p>
          <a:p>
            <a:r>
              <a:rPr sz="1200">
                <a:latin typeface="Calibri"/>
              </a:rPr>
              <a:t>Etape 5, je veux changer de ville. J'appuie sur le bouton bleu B1 de la Nucleo - regardez, la telemetrie se met en pause, le prompt revient, et je peux taper une autre ville.</a:t>
            </a:r>
          </a:p>
          <a:p>
            <a:r>
              <a:rPr sz="1200">
                <a:latin typeface="Calibri"/>
              </a:rPr>
              <a:t>Voila, tout marche. On va terminer par la conclusion.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[Personne 3] Pour conclure, on a couvert l'integralite du cahier des charges :</a:t>
            </a:r>
          </a:p>
          <a:p>
            <a:r>
              <a:rPr sz="1200">
                <a:latin typeface="Calibri"/>
              </a:rPr>
              <a:t>- les six peripheriques cles sont presents : GPIO, TIMER, UART et I2C. L'ADC etait optionnel, on l'a retire pour garder une demo plus lisible.
- on a trois peripheriques en interruption (TIM6, EXTI13, USART2 RX) alors que le sujet en demandait deux.
- on a trois capteurs actifs au lieu des deux exiges.</a:t>
            </a:r>
          </a:p>
          <a:p>
            <a:r>
              <a:rPr sz="1200">
                <a:latin typeface="Calibri"/>
              </a:rPr>
              <a:t>Cote pistes d'amelioration : on pourrait afficher la mesure localement sur le MAX7219, lire l'ADC en DMA pour faire de l'echantillonnage rapide, calculer des indicateurs derives comme le point de rosee, ou ajouter un transport sans fil - LoRa ou BLE - pour sortir le projet de la salle.</a:t>
            </a:r>
          </a:p>
          <a:p>
            <a:r>
              <a:rPr sz="1200">
                <a:latin typeface="Calibri"/>
              </a:rPr>
              <a:t>On retient surtout trois lecons : ne jamais bloquer dans une ISR, toujours verifier les retours BSP, et separer clairement la couche capteur de la couche application. Ca rend le code propre et reutilisable.</a:t>
            </a:r>
          </a:p>
          <a:p>
            <a:r>
              <a:rPr sz="1200">
                <a:latin typeface="Calibri"/>
              </a:rPr>
              <a:t>Merci pour votre attention - on est prets pour les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Rectangle 1"/>
          <p:cNvSpPr/>
          <p:nvPr/>
        </p:nvSpPr>
        <p:spPr>
          <a:xfrm>
            <a:off x="0" y="5486400"/>
            <a:ext cx="12191695"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623560"/>
            <a:ext cx="12191695" cy="91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48640"/>
            <a:ext cx="1828800" cy="457200"/>
          </a:xfrm>
          <a:prstGeom prst="rect">
            <a:avLst/>
          </a:prstGeom>
          <a:noFill/>
        </p:spPr>
        <p:txBody>
          <a:bodyPr wrap="square" lIns="0" tIns="0" rIns="0" bIns="0" anchor="t">
            <a:spAutoFit/>
          </a:bodyPr>
          <a:lstStyle/>
          <a:p>
            <a:pPr algn="l"/>
            <a:r>
              <a:rPr sz="1300" b="1" i="0">
                <a:solidFill>
                  <a:srgbClr val="F59E0B"/>
                </a:solidFill>
                <a:latin typeface="Consolas"/>
              </a:rPr>
              <a:t>01 / 06   APPLICATION</a:t>
            </a:r>
          </a:p>
        </p:txBody>
      </p:sp>
      <p:sp>
        <p:nvSpPr>
          <p:cNvPr id="7" name="TextBox 6"/>
          <p:cNvSpPr txBox="1"/>
          <p:nvPr/>
        </p:nvSpPr>
        <p:spPr>
          <a:xfrm>
            <a:off x="640080" y="1463040"/>
            <a:ext cx="10058400" cy="1280160"/>
          </a:xfrm>
          <a:prstGeom prst="rect">
            <a:avLst/>
          </a:prstGeom>
          <a:noFill/>
        </p:spPr>
        <p:txBody>
          <a:bodyPr wrap="square" lIns="0" tIns="0" rIns="0" bIns="0" anchor="t">
            <a:spAutoFit/>
          </a:bodyPr>
          <a:lstStyle/>
          <a:p>
            <a:pPr algn="l"/>
            <a:r>
              <a:rPr sz="5400" b="1" i="0">
                <a:solidFill>
                  <a:srgbClr val="FFFFFF"/>
                </a:solidFill>
                <a:latin typeface="Calibri"/>
              </a:rPr>
              <a:t>STATION METEO STM32</a:t>
            </a:r>
          </a:p>
        </p:txBody>
      </p:sp>
      <p:sp>
        <p:nvSpPr>
          <p:cNvPr id="8" name="TextBox 7"/>
          <p:cNvSpPr txBox="1"/>
          <p:nvPr/>
        </p:nvSpPr>
        <p:spPr>
          <a:xfrm>
            <a:off x="640080" y="2560320"/>
            <a:ext cx="10058400" cy="640080"/>
          </a:xfrm>
          <a:prstGeom prst="rect">
            <a:avLst/>
          </a:prstGeom>
          <a:noFill/>
        </p:spPr>
        <p:txBody>
          <a:bodyPr wrap="square" lIns="0" tIns="0" rIns="0" bIns="0" anchor="t">
            <a:spAutoFit/>
          </a:bodyPr>
          <a:lstStyle/>
          <a:p>
            <a:pPr algn="l"/>
            <a:r>
              <a:rPr sz="2400" b="0" i="1">
                <a:solidFill>
                  <a:srgbClr val="F59E0B"/>
                </a:solidFill>
                <a:latin typeface="Calibri"/>
              </a:rPr>
              <a:t>Acquisition environnementale temps reel</a:t>
            </a:r>
          </a:p>
        </p:txBody>
      </p:sp>
      <p:sp>
        <p:nvSpPr>
          <p:cNvPr id="9" name="Rectangle 8"/>
          <p:cNvSpPr/>
          <p:nvPr/>
        </p:nvSpPr>
        <p:spPr>
          <a:xfrm>
            <a:off x="640080" y="338328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611880"/>
            <a:ext cx="10058400" cy="320040"/>
          </a:xfrm>
          <a:prstGeom prst="rect">
            <a:avLst/>
          </a:prstGeom>
          <a:noFill/>
        </p:spPr>
        <p:txBody>
          <a:bodyPr wrap="square" lIns="0" tIns="0" rIns="0" bIns="0" anchor="t">
            <a:spAutoFit/>
          </a:bodyPr>
          <a:lstStyle/>
          <a:p>
            <a:pPr algn="l"/>
            <a:r>
              <a:rPr sz="1600" b="0" i="0">
                <a:solidFill>
                  <a:srgbClr val="FFFFFF"/>
                </a:solidFill>
                <a:latin typeface="Calibri"/>
              </a:rPr>
              <a:t>Mesure de temperature, humidite et pression d'une piece, exposees en direct sur PC.</a:t>
            </a:r>
          </a:p>
        </p:txBody>
      </p:sp>
      <p:sp>
        <p:nvSpPr>
          <p:cNvPr id="11" name="Rounded Rectangle 10"/>
          <p:cNvSpPr/>
          <p:nvPr/>
        </p:nvSpPr>
        <p:spPr>
          <a:xfrm>
            <a:off x="640080" y="4206240"/>
            <a:ext cx="5212080" cy="118872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343400"/>
            <a:ext cx="4663440" cy="365760"/>
          </a:xfrm>
          <a:prstGeom prst="rect">
            <a:avLst/>
          </a:prstGeom>
          <a:noFill/>
        </p:spPr>
        <p:txBody>
          <a:bodyPr wrap="square" lIns="0" tIns="0" rIns="0" bIns="0" anchor="t">
            <a:spAutoFit/>
          </a:bodyPr>
          <a:lstStyle/>
          <a:p>
            <a:pPr algn="l"/>
            <a:r>
              <a:rPr sz="1100" b="1" i="0">
                <a:solidFill>
                  <a:srgbClr val="F59E0B"/>
                </a:solidFill>
                <a:latin typeface="Consolas"/>
              </a:rPr>
              <a:t>PLATEFORME</a:t>
            </a:r>
          </a:p>
        </p:txBody>
      </p:sp>
      <p:sp>
        <p:nvSpPr>
          <p:cNvPr id="13" name="TextBox 12"/>
          <p:cNvSpPr txBox="1"/>
          <p:nvPr/>
        </p:nvSpPr>
        <p:spPr>
          <a:xfrm>
            <a:off x="914400" y="4663440"/>
            <a:ext cx="4663440" cy="731520"/>
          </a:xfrm>
          <a:prstGeom prst="rect">
            <a:avLst/>
          </a:prstGeom>
          <a:noFill/>
        </p:spPr>
        <p:txBody>
          <a:bodyPr wrap="square" lIns="0" tIns="0" rIns="0" bIns="0" anchor="t">
            <a:spAutoFit/>
          </a:bodyPr>
          <a:lstStyle/>
          <a:p>
            <a:pPr algn="l"/>
            <a:r>
              <a:rPr sz="1800" b="1" i="0">
                <a:solidFill>
                  <a:srgbClr val="FFFFFF"/>
                </a:solidFill>
                <a:latin typeface="Calibri"/>
              </a:rPr>
              <a:t>NUCLEO-L152RE  +  X-NUCLEO-IKS01A3</a:t>
            </a:r>
          </a:p>
        </p:txBody>
      </p:sp>
      <p:sp>
        <p:nvSpPr>
          <p:cNvPr id="14" name="TextBox 13"/>
          <p:cNvSpPr txBox="1"/>
          <p:nvPr/>
        </p:nvSpPr>
        <p:spPr>
          <a:xfrm>
            <a:off x="914400" y="5010912"/>
            <a:ext cx="4663440" cy="365760"/>
          </a:xfrm>
          <a:prstGeom prst="rect">
            <a:avLst/>
          </a:prstGeom>
          <a:noFill/>
        </p:spPr>
        <p:txBody>
          <a:bodyPr wrap="square" lIns="0" tIns="0" rIns="0" bIns="0" anchor="t">
            <a:spAutoFit/>
          </a:bodyPr>
          <a:lstStyle/>
          <a:p>
            <a:pPr algn="l"/>
            <a:r>
              <a:rPr sz="1300" b="0" i="0">
                <a:solidFill>
                  <a:srgbClr val="CBD5E1"/>
                </a:solidFill>
                <a:latin typeface="Calibri"/>
              </a:rPr>
              <a:t>STM32L152RET6 - Cortex-M3 - 32 MHz</a:t>
            </a:r>
          </a:p>
        </p:txBody>
      </p:sp>
      <p:sp>
        <p:nvSpPr>
          <p:cNvPr id="15" name="Rounded Rectangle 14"/>
          <p:cNvSpPr/>
          <p:nvPr/>
        </p:nvSpPr>
        <p:spPr>
          <a:xfrm>
            <a:off x="6400800" y="4206240"/>
            <a:ext cx="5212080" cy="1188720"/>
          </a:xfrm>
          <a:prstGeom prst="roundRect">
            <a:avLst>
              <a:gd name="adj" fmla="val 1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4343400"/>
            <a:ext cx="4663440" cy="365760"/>
          </a:xfrm>
          <a:prstGeom prst="rect">
            <a:avLst/>
          </a:prstGeom>
          <a:noFill/>
        </p:spPr>
        <p:txBody>
          <a:bodyPr wrap="square" lIns="0" tIns="0" rIns="0" bIns="0" anchor="t">
            <a:spAutoFit/>
          </a:bodyPr>
          <a:lstStyle/>
          <a:p>
            <a:pPr algn="l"/>
            <a:r>
              <a:rPr sz="1100" b="1" i="0">
                <a:solidFill>
                  <a:srgbClr val="F59E0B"/>
                </a:solidFill>
                <a:latin typeface="Consolas"/>
              </a:rPr>
              <a:t>CONTEXTE</a:t>
            </a:r>
          </a:p>
        </p:txBody>
      </p:sp>
      <p:sp>
        <p:nvSpPr>
          <p:cNvPr id="17" name="TextBox 16"/>
          <p:cNvSpPr txBox="1"/>
          <p:nvPr/>
        </p:nvSpPr>
        <p:spPr>
          <a:xfrm>
            <a:off x="6675120" y="4663440"/>
            <a:ext cx="4663440" cy="731520"/>
          </a:xfrm>
          <a:prstGeom prst="rect">
            <a:avLst/>
          </a:prstGeom>
          <a:noFill/>
        </p:spPr>
        <p:txBody>
          <a:bodyPr wrap="square" lIns="0" tIns="0" rIns="0" bIns="0" anchor="t">
            <a:spAutoFit/>
          </a:bodyPr>
          <a:lstStyle/>
          <a:p>
            <a:pPr algn="l"/>
            <a:r>
              <a:rPr sz="1800" b="1" i="0">
                <a:solidFill>
                  <a:srgbClr val="FFFFFF"/>
                </a:solidFill>
                <a:latin typeface="Calibri"/>
              </a:rPr>
              <a:t>Projet de fin de module - P23MRS</a:t>
            </a:r>
          </a:p>
        </p:txBody>
      </p:sp>
      <p:sp>
        <p:nvSpPr>
          <p:cNvPr id="18" name="TextBox 17"/>
          <p:cNvSpPr txBox="1"/>
          <p:nvPr/>
        </p:nvSpPr>
        <p:spPr>
          <a:xfrm>
            <a:off x="6675120" y="5010912"/>
            <a:ext cx="4663440" cy="365760"/>
          </a:xfrm>
          <a:prstGeom prst="rect">
            <a:avLst/>
          </a:prstGeom>
          <a:noFill/>
        </p:spPr>
        <p:txBody>
          <a:bodyPr wrap="square" lIns="0" tIns="0" rIns="0" bIns="0" anchor="t">
            <a:spAutoFit/>
          </a:bodyPr>
          <a:lstStyle/>
          <a:p>
            <a:pPr algn="l"/>
            <a:r>
              <a:rPr sz="1300" b="0" i="0">
                <a:solidFill>
                  <a:srgbClr val="CBD5E1"/>
                </a:solidFill>
                <a:latin typeface="Calibri"/>
              </a:rPr>
              <a:t>ISEN - Promotion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4572000" cy="365760"/>
          </a:xfrm>
          <a:prstGeom prst="rect">
            <a:avLst/>
          </a:prstGeom>
          <a:noFill/>
        </p:spPr>
        <p:txBody>
          <a:bodyPr wrap="square" lIns="0" tIns="0" rIns="0" bIns="0" anchor="t">
            <a:spAutoFit/>
          </a:bodyPr>
          <a:lstStyle/>
          <a:p>
            <a:pPr algn="l"/>
            <a:r>
              <a:rPr sz="1300" b="1" i="0">
                <a:solidFill>
                  <a:srgbClr val="F59E0B"/>
                </a:solidFill>
                <a:latin typeface="Consolas"/>
              </a:rPr>
              <a:t>02 / 06   SOLUTION</a:t>
            </a:r>
          </a:p>
        </p:txBody>
      </p:sp>
      <p:sp>
        <p:nvSpPr>
          <p:cNvPr id="4" name="TextBox 3"/>
          <p:cNvSpPr txBox="1"/>
          <p:nvPr/>
        </p:nvSpPr>
        <p:spPr>
          <a:xfrm>
            <a:off x="548640" y="594360"/>
            <a:ext cx="8686800" cy="640080"/>
          </a:xfrm>
          <a:prstGeom prst="rect">
            <a:avLst/>
          </a:prstGeom>
          <a:noFill/>
        </p:spPr>
        <p:txBody>
          <a:bodyPr wrap="square" lIns="0" tIns="0" rIns="0" bIns="0" anchor="t">
            <a:spAutoFit/>
          </a:bodyPr>
          <a:lstStyle/>
          <a:p>
            <a:pPr algn="l"/>
            <a:r>
              <a:rPr sz="2400" b="1" i="0">
                <a:solidFill>
                  <a:srgbClr val="FFFFFF"/>
                </a:solidFill>
                <a:latin typeface="Calibri"/>
              </a:rPr>
              <a:t>Architecture materielle et logicielle</a:t>
            </a:r>
          </a:p>
        </p:txBody>
      </p:sp>
      <p:sp>
        <p:nvSpPr>
          <p:cNvPr id="7" name="Rounded Rectangle 6"/>
          <p:cNvSpPr/>
          <p:nvPr/>
        </p:nvSpPr>
        <p:spPr>
          <a:xfrm>
            <a:off x="548640" y="1463040"/>
            <a:ext cx="5486400" cy="3840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91440" cy="3840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645920"/>
            <a:ext cx="4983480" cy="365760"/>
          </a:xfrm>
          <a:prstGeom prst="rect">
            <a:avLst/>
          </a:prstGeom>
          <a:noFill/>
        </p:spPr>
        <p:txBody>
          <a:bodyPr wrap="square" lIns="0" tIns="0" rIns="0" bIns="0" anchor="t">
            <a:spAutoFit/>
          </a:bodyPr>
          <a:lstStyle/>
          <a:p>
            <a:pPr algn="l"/>
            <a:r>
              <a:rPr sz="1200" b="1" i="0">
                <a:solidFill>
                  <a:srgbClr val="065A82"/>
                </a:solidFill>
                <a:latin typeface="Consolas"/>
              </a:rPr>
              <a:t>MATERIEL</a:t>
            </a:r>
          </a:p>
        </p:txBody>
      </p:sp>
      <p:sp>
        <p:nvSpPr>
          <p:cNvPr id="10" name="TextBox 9"/>
          <p:cNvSpPr txBox="1"/>
          <p:nvPr/>
        </p:nvSpPr>
        <p:spPr>
          <a:xfrm>
            <a:off x="868680" y="1965960"/>
            <a:ext cx="4983480" cy="457200"/>
          </a:xfrm>
          <a:prstGeom prst="rect">
            <a:avLst/>
          </a:prstGeom>
          <a:noFill/>
        </p:spPr>
        <p:txBody>
          <a:bodyPr wrap="square" lIns="0" tIns="0" rIns="0" bIns="0" anchor="t">
            <a:spAutoFit/>
          </a:bodyPr>
          <a:lstStyle/>
          <a:p>
            <a:pPr algn="l"/>
            <a:r>
              <a:rPr sz="2000" b="1" i="0">
                <a:solidFill>
                  <a:srgbClr val="0F172A"/>
                </a:solidFill>
                <a:latin typeface="Calibri"/>
              </a:rPr>
              <a:t>Une carte, un shield, trois capteurs</a:t>
            </a:r>
          </a:p>
        </p:txBody>
      </p:sp>
      <p:sp>
        <p:nvSpPr>
          <p:cNvPr id="11" name="TextBox 10"/>
          <p:cNvSpPr txBox="1"/>
          <p:nvPr/>
        </p:nvSpPr>
        <p:spPr>
          <a:xfrm>
            <a:off x="868680" y="2606040"/>
            <a:ext cx="1463040" cy="320040"/>
          </a:xfrm>
          <a:prstGeom prst="rect">
            <a:avLst/>
          </a:prstGeom>
          <a:noFill/>
        </p:spPr>
        <p:txBody>
          <a:bodyPr wrap="square" lIns="0" tIns="0" rIns="0" bIns="0" anchor="t">
            <a:spAutoFit/>
          </a:bodyPr>
          <a:lstStyle/>
          <a:p>
            <a:pPr algn="l"/>
            <a:r>
              <a:rPr sz="1300" b="1" i="0">
                <a:solidFill>
                  <a:srgbClr val="1C7293"/>
                </a:solidFill>
                <a:latin typeface="Consolas"/>
              </a:rPr>
              <a:t>HTS221</a:t>
            </a:r>
          </a:p>
        </p:txBody>
      </p:sp>
      <p:sp>
        <p:nvSpPr>
          <p:cNvPr id="12" name="TextBox 11"/>
          <p:cNvSpPr txBox="1"/>
          <p:nvPr/>
        </p:nvSpPr>
        <p:spPr>
          <a:xfrm>
            <a:off x="2377440" y="2606040"/>
            <a:ext cx="3474720" cy="320040"/>
          </a:xfrm>
          <a:prstGeom prst="rect">
            <a:avLst/>
          </a:prstGeom>
          <a:noFill/>
        </p:spPr>
        <p:txBody>
          <a:bodyPr wrap="square" lIns="0" tIns="0" rIns="0" bIns="0" anchor="t">
            <a:spAutoFit/>
          </a:bodyPr>
          <a:lstStyle/>
          <a:p>
            <a:pPr algn="l"/>
            <a:r>
              <a:rPr sz="1300" b="0" i="0">
                <a:solidFill>
                  <a:srgbClr val="0F172A"/>
                </a:solidFill>
                <a:latin typeface="Calibri"/>
              </a:rPr>
              <a:t>Humidite + temperature - I2C</a:t>
            </a:r>
          </a:p>
        </p:txBody>
      </p:sp>
      <p:sp>
        <p:nvSpPr>
          <p:cNvPr id="13" name="TextBox 12"/>
          <p:cNvSpPr txBox="1"/>
          <p:nvPr/>
        </p:nvSpPr>
        <p:spPr>
          <a:xfrm>
            <a:off x="868680" y="3017520"/>
            <a:ext cx="1463040" cy="320040"/>
          </a:xfrm>
          <a:prstGeom prst="rect">
            <a:avLst/>
          </a:prstGeom>
          <a:noFill/>
        </p:spPr>
        <p:txBody>
          <a:bodyPr wrap="square" lIns="0" tIns="0" rIns="0" bIns="0" anchor="t">
            <a:spAutoFit/>
          </a:bodyPr>
          <a:lstStyle/>
          <a:p>
            <a:pPr algn="l"/>
            <a:r>
              <a:rPr sz="1300" b="1" i="0">
                <a:solidFill>
                  <a:srgbClr val="1C7293"/>
                </a:solidFill>
                <a:latin typeface="Consolas"/>
              </a:rPr>
              <a:t>LPS22HH</a:t>
            </a:r>
          </a:p>
        </p:txBody>
      </p:sp>
      <p:sp>
        <p:nvSpPr>
          <p:cNvPr id="14" name="TextBox 13"/>
          <p:cNvSpPr txBox="1"/>
          <p:nvPr/>
        </p:nvSpPr>
        <p:spPr>
          <a:xfrm>
            <a:off x="2377440" y="3017520"/>
            <a:ext cx="3474720" cy="320040"/>
          </a:xfrm>
          <a:prstGeom prst="rect">
            <a:avLst/>
          </a:prstGeom>
          <a:noFill/>
        </p:spPr>
        <p:txBody>
          <a:bodyPr wrap="square" lIns="0" tIns="0" rIns="0" bIns="0" anchor="t">
            <a:spAutoFit/>
          </a:bodyPr>
          <a:lstStyle/>
          <a:p>
            <a:pPr algn="l"/>
            <a:r>
              <a:rPr sz="1300" b="0" i="0">
                <a:solidFill>
                  <a:srgbClr val="0F172A"/>
                </a:solidFill>
                <a:latin typeface="Calibri"/>
              </a:rPr>
              <a:t>Pression atmospherique - I2C</a:t>
            </a:r>
          </a:p>
        </p:txBody>
      </p:sp>
      <p:sp>
        <p:nvSpPr>
          <p:cNvPr id="15" name="TextBox 14"/>
          <p:cNvSpPr txBox="1"/>
          <p:nvPr/>
        </p:nvSpPr>
        <p:spPr>
          <a:xfrm>
            <a:off x="868680" y="3429000"/>
            <a:ext cx="1463040" cy="320040"/>
          </a:xfrm>
          <a:prstGeom prst="rect">
            <a:avLst/>
          </a:prstGeom>
          <a:noFill/>
        </p:spPr>
        <p:txBody>
          <a:bodyPr wrap="square" lIns="0" tIns="0" rIns="0" bIns="0" anchor="t">
            <a:spAutoFit/>
          </a:bodyPr>
          <a:lstStyle/>
          <a:p>
            <a:pPr algn="l"/>
            <a:r>
              <a:rPr sz="1300" b="1" i="0">
                <a:solidFill>
                  <a:srgbClr val="1C7293"/>
                </a:solidFill>
                <a:latin typeface="Consolas"/>
              </a:rPr>
              <a:t>STTS751</a:t>
            </a:r>
          </a:p>
        </p:txBody>
      </p:sp>
      <p:sp>
        <p:nvSpPr>
          <p:cNvPr id="16" name="TextBox 15"/>
          <p:cNvSpPr txBox="1"/>
          <p:nvPr/>
        </p:nvSpPr>
        <p:spPr>
          <a:xfrm>
            <a:off x="2377440" y="3429000"/>
            <a:ext cx="3474720" cy="320040"/>
          </a:xfrm>
          <a:prstGeom prst="rect">
            <a:avLst/>
          </a:prstGeom>
          <a:noFill/>
        </p:spPr>
        <p:txBody>
          <a:bodyPr wrap="square" lIns="0" tIns="0" rIns="0" bIns="0" anchor="t">
            <a:spAutoFit/>
          </a:bodyPr>
          <a:lstStyle/>
          <a:p>
            <a:pPr algn="l"/>
            <a:r>
              <a:rPr sz="1300" b="0" i="0">
                <a:solidFill>
                  <a:srgbClr val="0F172A"/>
                </a:solidFill>
                <a:latin typeface="Calibri"/>
              </a:rPr>
              <a:t>Temperature de precision - I2C</a:t>
            </a:r>
          </a:p>
        </p:txBody>
      </p:sp>
      <p:sp>
        <p:nvSpPr>
          <p:cNvPr id="17" name="TextBox 16"/>
          <p:cNvSpPr txBox="1"/>
          <p:nvPr/>
        </p:nvSpPr>
        <p:spPr>
          <a:xfrm>
            <a:off x="868680" y="3840480"/>
            <a:ext cx="1463040" cy="320040"/>
          </a:xfrm>
          <a:prstGeom prst="rect">
            <a:avLst/>
          </a:prstGeom>
          <a:noFill/>
        </p:spPr>
        <p:txBody>
          <a:bodyPr wrap="square" lIns="0" tIns="0" rIns="0" bIns="0" anchor="t">
            <a:spAutoFit/>
          </a:bodyPr>
          <a:lstStyle/>
          <a:p>
            <a:pPr algn="l"/>
            <a:r>
              <a:rPr sz="1300" b="1" i="0">
                <a:solidFill>
                  <a:srgbClr val="1C7293"/>
                </a:solidFill>
                <a:latin typeface="Consolas"/>
              </a:rPr>
              <a:t>USART2</a:t>
            </a:r>
          </a:p>
        </p:txBody>
      </p:sp>
      <p:sp>
        <p:nvSpPr>
          <p:cNvPr id="18" name="TextBox 17"/>
          <p:cNvSpPr txBox="1"/>
          <p:nvPr/>
        </p:nvSpPr>
        <p:spPr>
          <a:xfrm>
            <a:off x="2377440" y="3840480"/>
            <a:ext cx="3474720" cy="320040"/>
          </a:xfrm>
          <a:prstGeom prst="rect">
            <a:avLst/>
          </a:prstGeom>
          <a:noFill/>
        </p:spPr>
        <p:txBody>
          <a:bodyPr wrap="square" lIns="0" tIns="0" rIns="0" bIns="0" anchor="t">
            <a:spAutoFit/>
          </a:bodyPr>
          <a:lstStyle/>
          <a:p>
            <a:pPr algn="l"/>
            <a:r>
              <a:rPr sz="1300" b="0" i="0">
                <a:solidFill>
                  <a:srgbClr val="0F172A"/>
                </a:solidFill>
                <a:latin typeface="Calibri"/>
              </a:rPr>
              <a:t>Terminal serie via ST-LINK - 115200 baud</a:t>
            </a:r>
          </a:p>
        </p:txBody>
      </p:sp>
      <p:sp>
        <p:nvSpPr>
          <p:cNvPr id="19" name="TextBox 18"/>
          <p:cNvSpPr txBox="1"/>
          <p:nvPr/>
        </p:nvSpPr>
        <p:spPr>
          <a:xfrm>
            <a:off x="868680" y="4251960"/>
            <a:ext cx="1463040" cy="320040"/>
          </a:xfrm>
          <a:prstGeom prst="rect">
            <a:avLst/>
          </a:prstGeom>
          <a:noFill/>
        </p:spPr>
        <p:txBody>
          <a:bodyPr wrap="square" lIns="0" tIns="0" rIns="0" bIns="0" anchor="t">
            <a:spAutoFit/>
          </a:bodyPr>
          <a:lstStyle/>
          <a:p>
            <a:pPr algn="l"/>
            <a:r>
              <a:rPr sz="1300" b="1" i="0">
                <a:solidFill>
                  <a:srgbClr val="1C7293"/>
                </a:solidFill>
                <a:latin typeface="Consolas"/>
              </a:rPr>
              <a:t>Bouton B1</a:t>
            </a:r>
          </a:p>
        </p:txBody>
      </p:sp>
      <p:sp>
        <p:nvSpPr>
          <p:cNvPr id="20" name="TextBox 19"/>
          <p:cNvSpPr txBox="1"/>
          <p:nvPr/>
        </p:nvSpPr>
        <p:spPr>
          <a:xfrm>
            <a:off x="2377440" y="4251960"/>
            <a:ext cx="3474720" cy="320040"/>
          </a:xfrm>
          <a:prstGeom prst="rect">
            <a:avLst/>
          </a:prstGeom>
          <a:noFill/>
        </p:spPr>
        <p:txBody>
          <a:bodyPr wrap="square" lIns="0" tIns="0" rIns="0" bIns="0" anchor="t">
            <a:spAutoFit/>
          </a:bodyPr>
          <a:lstStyle/>
          <a:p>
            <a:pPr algn="l"/>
            <a:r>
              <a:rPr sz="1300" b="0" i="0">
                <a:solidFill>
                  <a:srgbClr val="0F172A"/>
                </a:solidFill>
                <a:latin typeface="Calibri"/>
              </a:rPr>
              <a:t>Re-saisie ville par interruption EXTI13</a:t>
            </a:r>
          </a:p>
        </p:txBody>
      </p:sp>
      <p:sp>
        <p:nvSpPr>
          <p:cNvPr id="21" name="Rounded Rectangle 20"/>
          <p:cNvSpPr/>
          <p:nvPr/>
        </p:nvSpPr>
        <p:spPr>
          <a:xfrm>
            <a:off x="6217920" y="1463040"/>
            <a:ext cx="5486400" cy="3840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1463040"/>
            <a:ext cx="91440" cy="3840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1645920"/>
            <a:ext cx="4983480" cy="365760"/>
          </a:xfrm>
          <a:prstGeom prst="rect">
            <a:avLst/>
          </a:prstGeom>
          <a:noFill/>
        </p:spPr>
        <p:txBody>
          <a:bodyPr wrap="square" lIns="0" tIns="0" rIns="0" bIns="0" anchor="t">
            <a:spAutoFit/>
          </a:bodyPr>
          <a:lstStyle/>
          <a:p>
            <a:pPr algn="l"/>
            <a:r>
              <a:rPr sz="1200" b="1" i="0">
                <a:solidFill>
                  <a:srgbClr val="1C7293"/>
                </a:solidFill>
                <a:latin typeface="Consolas"/>
              </a:rPr>
              <a:t>LOGICIEL</a:t>
            </a:r>
          </a:p>
        </p:txBody>
      </p:sp>
      <p:sp>
        <p:nvSpPr>
          <p:cNvPr id="24" name="TextBox 23"/>
          <p:cNvSpPr txBox="1"/>
          <p:nvPr/>
        </p:nvSpPr>
        <p:spPr>
          <a:xfrm>
            <a:off x="6537960" y="1965960"/>
            <a:ext cx="4983480" cy="457200"/>
          </a:xfrm>
          <a:prstGeom prst="rect">
            <a:avLst/>
          </a:prstGeom>
          <a:noFill/>
        </p:spPr>
        <p:txBody>
          <a:bodyPr wrap="square" lIns="0" tIns="0" rIns="0" bIns="0" anchor="t">
            <a:spAutoFit/>
          </a:bodyPr>
          <a:lstStyle/>
          <a:p>
            <a:pPr algn="l"/>
            <a:r>
              <a:rPr sz="2000" b="1" i="0">
                <a:solidFill>
                  <a:srgbClr val="0F172A"/>
                </a:solidFill>
                <a:latin typeface="Calibri"/>
              </a:rPr>
              <a:t>Architecture flag-driven HAL C</a:t>
            </a:r>
          </a:p>
        </p:txBody>
      </p:sp>
      <p:sp>
        <p:nvSpPr>
          <p:cNvPr id="25" name="TextBox 24"/>
          <p:cNvSpPr txBox="1"/>
          <p:nvPr/>
        </p:nvSpPr>
        <p:spPr>
          <a:xfrm>
            <a:off x="6537960" y="2606040"/>
            <a:ext cx="1828800" cy="320040"/>
          </a:xfrm>
          <a:prstGeom prst="rect">
            <a:avLst/>
          </a:prstGeom>
          <a:noFill/>
        </p:spPr>
        <p:txBody>
          <a:bodyPr wrap="square" lIns="0" tIns="0" rIns="0" bIns="0" anchor="t">
            <a:spAutoFit/>
          </a:bodyPr>
          <a:lstStyle/>
          <a:p>
            <a:pPr algn="l"/>
            <a:r>
              <a:rPr sz="1300" b="1" i="0">
                <a:solidFill>
                  <a:srgbClr val="065A82"/>
                </a:solidFill>
                <a:latin typeface="Consolas"/>
              </a:rPr>
              <a:t>CubeMX</a:t>
            </a:r>
          </a:p>
        </p:txBody>
      </p:sp>
      <p:sp>
        <p:nvSpPr>
          <p:cNvPr id="26" name="TextBox 25"/>
          <p:cNvSpPr txBox="1"/>
          <p:nvPr/>
        </p:nvSpPr>
        <p:spPr>
          <a:xfrm>
            <a:off x="8412480" y="2606040"/>
            <a:ext cx="3108960" cy="320040"/>
          </a:xfrm>
          <a:prstGeom prst="rect">
            <a:avLst/>
          </a:prstGeom>
          <a:noFill/>
        </p:spPr>
        <p:txBody>
          <a:bodyPr wrap="square" lIns="0" tIns="0" rIns="0" bIns="0" anchor="t">
            <a:spAutoFit/>
          </a:bodyPr>
          <a:lstStyle/>
          <a:p>
            <a:pPr algn="l"/>
            <a:r>
              <a:rPr sz="1300" b="0" i="0">
                <a:solidFill>
                  <a:srgbClr val="0F172A"/>
                </a:solidFill>
                <a:latin typeface="Calibri"/>
              </a:rPr>
              <a:t>Generation HAL + BSP IKS01A3 v11.1</a:t>
            </a:r>
          </a:p>
        </p:txBody>
      </p:sp>
      <p:sp>
        <p:nvSpPr>
          <p:cNvPr id="27" name="TextBox 26"/>
          <p:cNvSpPr txBox="1"/>
          <p:nvPr/>
        </p:nvSpPr>
        <p:spPr>
          <a:xfrm>
            <a:off x="6537960" y="3017520"/>
            <a:ext cx="1828800" cy="320040"/>
          </a:xfrm>
          <a:prstGeom prst="rect">
            <a:avLst/>
          </a:prstGeom>
          <a:noFill/>
        </p:spPr>
        <p:txBody>
          <a:bodyPr wrap="square" lIns="0" tIns="0" rIns="0" bIns="0" anchor="t">
            <a:spAutoFit/>
          </a:bodyPr>
          <a:lstStyle/>
          <a:p>
            <a:pPr algn="l"/>
            <a:r>
              <a:rPr sz="1300" b="1" i="0">
                <a:solidFill>
                  <a:srgbClr val="065A82"/>
                </a:solidFill>
                <a:latin typeface="Consolas"/>
              </a:rPr>
              <a:t>TIM6 IRQ</a:t>
            </a:r>
          </a:p>
        </p:txBody>
      </p:sp>
      <p:sp>
        <p:nvSpPr>
          <p:cNvPr id="28" name="TextBox 27"/>
          <p:cNvSpPr txBox="1"/>
          <p:nvPr/>
        </p:nvSpPr>
        <p:spPr>
          <a:xfrm>
            <a:off x="8412480" y="3017520"/>
            <a:ext cx="3108960" cy="320040"/>
          </a:xfrm>
          <a:prstGeom prst="rect">
            <a:avLst/>
          </a:prstGeom>
          <a:noFill/>
        </p:spPr>
        <p:txBody>
          <a:bodyPr wrap="square" lIns="0" tIns="0" rIns="0" bIns="0" anchor="t">
            <a:spAutoFit/>
          </a:bodyPr>
          <a:lstStyle/>
          <a:p>
            <a:pPr algn="l"/>
            <a:r>
              <a:rPr sz="1300" b="0" i="0">
                <a:solidFill>
                  <a:srgbClr val="0F172A"/>
                </a:solidFill>
                <a:latin typeface="Calibri"/>
              </a:rPr>
              <a:t>Tick d'echantillonnage a 1 Hz</a:t>
            </a:r>
          </a:p>
        </p:txBody>
      </p:sp>
      <p:sp>
        <p:nvSpPr>
          <p:cNvPr id="29" name="TextBox 28"/>
          <p:cNvSpPr txBox="1"/>
          <p:nvPr/>
        </p:nvSpPr>
        <p:spPr>
          <a:xfrm>
            <a:off x="6537960" y="3429000"/>
            <a:ext cx="1828800" cy="320040"/>
          </a:xfrm>
          <a:prstGeom prst="rect">
            <a:avLst/>
          </a:prstGeom>
          <a:noFill/>
        </p:spPr>
        <p:txBody>
          <a:bodyPr wrap="square" lIns="0" tIns="0" rIns="0" bIns="0" anchor="t">
            <a:spAutoFit/>
          </a:bodyPr>
          <a:lstStyle/>
          <a:p>
            <a:pPr algn="l"/>
            <a:r>
              <a:rPr sz="1300" b="1" i="0">
                <a:solidFill>
                  <a:srgbClr val="065A82"/>
                </a:solidFill>
                <a:latin typeface="Consolas"/>
              </a:rPr>
              <a:t>EXTI13 IRQ</a:t>
            </a:r>
          </a:p>
        </p:txBody>
      </p:sp>
      <p:sp>
        <p:nvSpPr>
          <p:cNvPr id="30" name="TextBox 29"/>
          <p:cNvSpPr txBox="1"/>
          <p:nvPr/>
        </p:nvSpPr>
        <p:spPr>
          <a:xfrm>
            <a:off x="8412480" y="3429000"/>
            <a:ext cx="3108960" cy="320040"/>
          </a:xfrm>
          <a:prstGeom prst="rect">
            <a:avLst/>
          </a:prstGeom>
          <a:noFill/>
        </p:spPr>
        <p:txBody>
          <a:bodyPr wrap="square" lIns="0" tIns="0" rIns="0" bIns="0" anchor="t">
            <a:spAutoFit/>
          </a:bodyPr>
          <a:lstStyle/>
          <a:p>
            <a:pPr algn="l"/>
            <a:r>
              <a:rPr sz="1300" b="0" i="0">
                <a:solidFill>
                  <a:srgbClr val="0F172A"/>
                </a:solidFill>
                <a:latin typeface="Calibri"/>
              </a:rPr>
              <a:t>Bouton B1 anti-rebond 50 ms</a:t>
            </a:r>
          </a:p>
        </p:txBody>
      </p:sp>
      <p:sp>
        <p:nvSpPr>
          <p:cNvPr id="31" name="TextBox 30"/>
          <p:cNvSpPr txBox="1"/>
          <p:nvPr/>
        </p:nvSpPr>
        <p:spPr>
          <a:xfrm>
            <a:off x="6537960" y="3840480"/>
            <a:ext cx="1828800" cy="320040"/>
          </a:xfrm>
          <a:prstGeom prst="rect">
            <a:avLst/>
          </a:prstGeom>
          <a:noFill/>
        </p:spPr>
        <p:txBody>
          <a:bodyPr wrap="square" lIns="0" tIns="0" rIns="0" bIns="0" anchor="t">
            <a:spAutoFit/>
          </a:bodyPr>
          <a:lstStyle/>
          <a:p>
            <a:pPr algn="l"/>
            <a:r>
              <a:rPr sz="1300" b="1" i="0">
                <a:solidFill>
                  <a:srgbClr val="065A82"/>
                </a:solidFill>
                <a:latin typeface="Consolas"/>
              </a:rPr>
              <a:t>USART2 RX IRQ</a:t>
            </a:r>
          </a:p>
        </p:txBody>
      </p:sp>
      <p:sp>
        <p:nvSpPr>
          <p:cNvPr id="32" name="TextBox 31"/>
          <p:cNvSpPr txBox="1"/>
          <p:nvPr/>
        </p:nvSpPr>
        <p:spPr>
          <a:xfrm>
            <a:off x="8412480" y="3840480"/>
            <a:ext cx="3108960" cy="320040"/>
          </a:xfrm>
          <a:prstGeom prst="rect">
            <a:avLst/>
          </a:prstGeom>
          <a:noFill/>
        </p:spPr>
        <p:txBody>
          <a:bodyPr wrap="square" lIns="0" tIns="0" rIns="0" bIns="0" anchor="t">
            <a:spAutoFit/>
          </a:bodyPr>
          <a:lstStyle/>
          <a:p>
            <a:pPr algn="l"/>
            <a:r>
              <a:rPr sz="1300" b="0" i="0">
                <a:solidFill>
                  <a:srgbClr val="0F172A"/>
                </a:solidFill>
                <a:latin typeface="Calibri"/>
              </a:rPr>
              <a:t>Reception caractere par caractere</a:t>
            </a:r>
          </a:p>
        </p:txBody>
      </p:sp>
      <p:sp>
        <p:nvSpPr>
          <p:cNvPr id="33" name="TextBox 32"/>
          <p:cNvSpPr txBox="1"/>
          <p:nvPr/>
        </p:nvSpPr>
        <p:spPr>
          <a:xfrm>
            <a:off x="6537960" y="4251960"/>
            <a:ext cx="1828800" cy="320040"/>
          </a:xfrm>
          <a:prstGeom prst="rect">
            <a:avLst/>
          </a:prstGeom>
          <a:noFill/>
        </p:spPr>
        <p:txBody>
          <a:bodyPr wrap="square" lIns="0" tIns="0" rIns="0" bIns="0" anchor="t">
            <a:spAutoFit/>
          </a:bodyPr>
          <a:lstStyle/>
          <a:p>
            <a:pPr algn="l"/>
            <a:r>
              <a:rPr sz="1300" b="1" i="0">
                <a:solidFill>
                  <a:srgbClr val="065A82"/>
                </a:solidFill>
                <a:latin typeface="Consolas"/>
              </a:rPr>
              <a:t>weather.c</a:t>
            </a:r>
          </a:p>
        </p:txBody>
      </p:sp>
      <p:sp>
        <p:nvSpPr>
          <p:cNvPr id="34" name="TextBox 33"/>
          <p:cNvSpPr txBox="1"/>
          <p:nvPr/>
        </p:nvSpPr>
        <p:spPr>
          <a:xfrm>
            <a:off x="8412480" y="4251960"/>
            <a:ext cx="3108960" cy="320040"/>
          </a:xfrm>
          <a:prstGeom prst="rect">
            <a:avLst/>
          </a:prstGeom>
          <a:noFill/>
        </p:spPr>
        <p:txBody>
          <a:bodyPr wrap="square" lIns="0" tIns="0" rIns="0" bIns="0" anchor="t">
            <a:spAutoFit/>
          </a:bodyPr>
          <a:lstStyle/>
          <a:p>
            <a:pPr algn="l"/>
            <a:r>
              <a:rPr sz="1300" b="0" i="0">
                <a:solidFill>
                  <a:srgbClr val="0F172A"/>
                </a:solidFill>
                <a:latin typeface="Calibri"/>
              </a:rPr>
              <a:t>Module separe : capteurs, LED, UART</a:t>
            </a:r>
          </a:p>
        </p:txBody>
      </p:sp>
      <p:sp>
        <p:nvSpPr>
          <p:cNvPr id="35" name="Rounded Rectangle 34"/>
          <p:cNvSpPr/>
          <p:nvPr/>
        </p:nvSpPr>
        <p:spPr>
          <a:xfrm>
            <a:off x="449427" y="5486400"/>
            <a:ext cx="2651760" cy="777240"/>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9427" y="5559552"/>
            <a:ext cx="2651760" cy="457200"/>
          </a:xfrm>
          <a:prstGeom prst="rect">
            <a:avLst/>
          </a:prstGeom>
          <a:noFill/>
        </p:spPr>
        <p:txBody>
          <a:bodyPr wrap="square" lIns="0" tIns="0" rIns="0" bIns="0" anchor="t">
            <a:spAutoFit/>
          </a:bodyPr>
          <a:lstStyle/>
          <a:p>
            <a:pPr algn="ctr"/>
            <a:r>
              <a:rPr sz="2200" b="1" i="0">
                <a:solidFill>
                  <a:srgbClr val="F59E0B"/>
                </a:solidFill>
                <a:latin typeface="Calibri"/>
              </a:rPr>
              <a:t>3</a:t>
            </a:r>
          </a:p>
        </p:txBody>
      </p:sp>
      <p:sp>
        <p:nvSpPr>
          <p:cNvPr id="37" name="TextBox 36"/>
          <p:cNvSpPr txBox="1"/>
          <p:nvPr/>
        </p:nvSpPr>
        <p:spPr>
          <a:xfrm>
            <a:off x="449427" y="5943600"/>
            <a:ext cx="2651760" cy="320040"/>
          </a:xfrm>
          <a:prstGeom prst="rect">
            <a:avLst/>
          </a:prstGeom>
          <a:noFill/>
        </p:spPr>
        <p:txBody>
          <a:bodyPr wrap="square" lIns="0" tIns="0" rIns="0" bIns="0" anchor="t">
            <a:spAutoFit/>
          </a:bodyPr>
          <a:lstStyle/>
          <a:p>
            <a:pPr algn="ctr"/>
            <a:r>
              <a:rPr sz="1200" b="0" i="0">
                <a:solidFill>
                  <a:srgbClr val="FFFFFF"/>
                </a:solidFill>
                <a:latin typeface="Consolas"/>
              </a:rPr>
              <a:t>capteurs</a:t>
            </a:r>
          </a:p>
        </p:txBody>
      </p:sp>
      <p:sp>
        <p:nvSpPr>
          <p:cNvPr id="38" name="Rounded Rectangle 37"/>
          <p:cNvSpPr/>
          <p:nvPr/>
        </p:nvSpPr>
        <p:spPr>
          <a:xfrm>
            <a:off x="3329787" y="5486400"/>
            <a:ext cx="2651760" cy="777240"/>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329787" y="5559552"/>
            <a:ext cx="2651760" cy="457200"/>
          </a:xfrm>
          <a:prstGeom prst="rect">
            <a:avLst/>
          </a:prstGeom>
          <a:noFill/>
        </p:spPr>
        <p:txBody>
          <a:bodyPr wrap="square" lIns="0" tIns="0" rIns="0" bIns="0" anchor="t">
            <a:spAutoFit/>
          </a:bodyPr>
          <a:lstStyle/>
          <a:p>
            <a:pPr algn="ctr"/>
            <a:r>
              <a:rPr sz="2200" b="1" i="0">
                <a:solidFill>
                  <a:srgbClr val="F59E0B"/>
                </a:solidFill>
                <a:latin typeface="Calibri"/>
              </a:rPr>
              <a:t>3</a:t>
            </a:r>
          </a:p>
        </p:txBody>
      </p:sp>
      <p:sp>
        <p:nvSpPr>
          <p:cNvPr id="40" name="TextBox 39"/>
          <p:cNvSpPr txBox="1"/>
          <p:nvPr/>
        </p:nvSpPr>
        <p:spPr>
          <a:xfrm>
            <a:off x="3329787" y="5943600"/>
            <a:ext cx="2651760" cy="320040"/>
          </a:xfrm>
          <a:prstGeom prst="rect">
            <a:avLst/>
          </a:prstGeom>
          <a:noFill/>
        </p:spPr>
        <p:txBody>
          <a:bodyPr wrap="square" lIns="0" tIns="0" rIns="0" bIns="0" anchor="t">
            <a:spAutoFit/>
          </a:bodyPr>
          <a:lstStyle/>
          <a:p>
            <a:pPr algn="ctr"/>
            <a:r>
              <a:rPr sz="1200" b="0" i="0">
                <a:solidFill>
                  <a:srgbClr val="FFFFFF"/>
                </a:solidFill>
                <a:latin typeface="Consolas"/>
              </a:rPr>
              <a:t>IRQ</a:t>
            </a:r>
          </a:p>
        </p:txBody>
      </p:sp>
      <p:sp>
        <p:nvSpPr>
          <p:cNvPr id="41" name="Rounded Rectangle 40"/>
          <p:cNvSpPr/>
          <p:nvPr/>
        </p:nvSpPr>
        <p:spPr>
          <a:xfrm>
            <a:off x="6210147" y="5486400"/>
            <a:ext cx="2651760" cy="777240"/>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10147" y="5559552"/>
            <a:ext cx="2651760" cy="457200"/>
          </a:xfrm>
          <a:prstGeom prst="rect">
            <a:avLst/>
          </a:prstGeom>
          <a:noFill/>
        </p:spPr>
        <p:txBody>
          <a:bodyPr wrap="square" lIns="0" tIns="0" rIns="0" bIns="0" anchor="t">
            <a:spAutoFit/>
          </a:bodyPr>
          <a:lstStyle/>
          <a:p>
            <a:pPr algn="ctr"/>
            <a:r>
              <a:rPr sz="2200" b="1" i="0">
                <a:solidFill>
                  <a:srgbClr val="F59E0B"/>
                </a:solidFill>
                <a:latin typeface="Calibri"/>
              </a:rPr>
              <a:t>1 Hz</a:t>
            </a:r>
          </a:p>
        </p:txBody>
      </p:sp>
      <p:sp>
        <p:nvSpPr>
          <p:cNvPr id="43" name="TextBox 42"/>
          <p:cNvSpPr txBox="1"/>
          <p:nvPr/>
        </p:nvSpPr>
        <p:spPr>
          <a:xfrm>
            <a:off x="6210147" y="5943600"/>
            <a:ext cx="2651760" cy="320040"/>
          </a:xfrm>
          <a:prstGeom prst="rect">
            <a:avLst/>
          </a:prstGeom>
          <a:noFill/>
        </p:spPr>
        <p:txBody>
          <a:bodyPr wrap="square" lIns="0" tIns="0" rIns="0" bIns="0" anchor="t">
            <a:spAutoFit/>
          </a:bodyPr>
          <a:lstStyle/>
          <a:p>
            <a:pPr algn="ctr"/>
            <a:r>
              <a:rPr sz="1200" b="0" i="0">
                <a:solidFill>
                  <a:srgbClr val="FFFFFF"/>
                </a:solidFill>
                <a:latin typeface="Consolas"/>
              </a:rPr>
              <a:t>echantillonnage</a:t>
            </a:r>
          </a:p>
        </p:txBody>
      </p:sp>
      <p:sp>
        <p:nvSpPr>
          <p:cNvPr id="44" name="Rounded Rectangle 43"/>
          <p:cNvSpPr/>
          <p:nvPr/>
        </p:nvSpPr>
        <p:spPr>
          <a:xfrm>
            <a:off x="9090507" y="5486400"/>
            <a:ext cx="2651760" cy="777240"/>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090507" y="5559552"/>
            <a:ext cx="2651760" cy="457200"/>
          </a:xfrm>
          <a:prstGeom prst="rect">
            <a:avLst/>
          </a:prstGeom>
          <a:noFill/>
        </p:spPr>
        <p:txBody>
          <a:bodyPr wrap="square" lIns="0" tIns="0" rIns="0" bIns="0" anchor="t">
            <a:spAutoFit/>
          </a:bodyPr>
          <a:lstStyle/>
          <a:p>
            <a:pPr algn="ctr"/>
            <a:r>
              <a:rPr sz="2200" b="1" i="0">
                <a:solidFill>
                  <a:srgbClr val="F59E0B"/>
                </a:solidFill>
                <a:latin typeface="Calibri"/>
              </a:rPr>
              <a:t>115200</a:t>
            </a:r>
          </a:p>
        </p:txBody>
      </p:sp>
      <p:sp>
        <p:nvSpPr>
          <p:cNvPr id="46" name="TextBox 45"/>
          <p:cNvSpPr txBox="1"/>
          <p:nvPr/>
        </p:nvSpPr>
        <p:spPr>
          <a:xfrm>
            <a:off x="9090507" y="5943600"/>
            <a:ext cx="2651760" cy="320040"/>
          </a:xfrm>
          <a:prstGeom prst="rect">
            <a:avLst/>
          </a:prstGeom>
          <a:noFill/>
        </p:spPr>
        <p:txBody>
          <a:bodyPr wrap="square" lIns="0" tIns="0" rIns="0" bIns="0" anchor="t">
            <a:spAutoFit/>
          </a:bodyPr>
          <a:lstStyle/>
          <a:p>
            <a:pPr algn="ctr"/>
            <a:r>
              <a:rPr sz="1200" b="0" i="0">
                <a:solidFill>
                  <a:srgbClr val="FFFFFF"/>
                </a:solidFill>
                <a:latin typeface="Consolas"/>
              </a:rPr>
              <a:t>baud UART</a:t>
            </a:r>
          </a:p>
        </p:txBody>
      </p:sp>
      <p:sp>
        <p:nvSpPr>
          <p:cNvPr id="47" name="TextBox 46"/>
          <p:cNvSpPr txBox="1"/>
          <p:nvPr/>
        </p:nvSpPr>
        <p:spPr>
          <a:xfrm>
            <a:off x="548640" y="6446520"/>
            <a:ext cx="7315200" cy="320040"/>
          </a:xfrm>
          <a:prstGeom prst="rect">
            <a:avLst/>
          </a:prstGeom>
          <a:noFill/>
        </p:spPr>
        <p:txBody>
          <a:bodyPr wrap="square" lIns="0" tIns="0" rIns="0" bIns="0" anchor="t">
            <a:spAutoFit/>
          </a:bodyPr>
          <a:lstStyle/>
          <a:p>
            <a:pPr algn="l"/>
            <a:r>
              <a:rPr sz="1000" b="0" i="1">
                <a:solidFill>
                  <a:srgbClr val="64748B"/>
                </a:solidFill>
                <a:latin typeface="Calibri"/>
              </a:rPr>
              <a:t>STM32 Meteo Station - NUCLEO-L152RE + X-NUCLEO-IKS01A3 - P23MRS 2026</a:t>
            </a:r>
          </a:p>
        </p:txBody>
      </p:sp>
      <p:sp>
        <p:nvSpPr>
          <p:cNvPr id="48" name="TextBox 47"/>
          <p:cNvSpPr txBox="1"/>
          <p:nvPr/>
        </p:nvSpPr>
        <p:spPr>
          <a:xfrm>
            <a:off x="11338560" y="6446520"/>
            <a:ext cx="457200" cy="320040"/>
          </a:xfrm>
          <a:prstGeom prst="rect">
            <a:avLst/>
          </a:prstGeom>
          <a:noFill/>
        </p:spPr>
        <p:txBody>
          <a:bodyPr wrap="square" lIns="0" tIns="0" rIns="0" bIns="0" anchor="t">
            <a:spAutoFit/>
          </a:bodyPr>
          <a:lstStyle/>
          <a:p>
            <a:pPr algn="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4572000" cy="365760"/>
          </a:xfrm>
          <a:prstGeom prst="rect">
            <a:avLst/>
          </a:prstGeom>
          <a:noFill/>
        </p:spPr>
        <p:txBody>
          <a:bodyPr wrap="square" lIns="0" tIns="0" rIns="0" bIns="0" anchor="t">
            <a:spAutoFit/>
          </a:bodyPr>
          <a:lstStyle/>
          <a:p>
            <a:pPr algn="l"/>
            <a:r>
              <a:rPr sz="1300" b="1" i="0">
                <a:solidFill>
                  <a:srgbClr val="F59E0B"/>
                </a:solidFill>
                <a:latin typeface="Consolas"/>
              </a:rPr>
              <a:t>03 / 06   DEFIS</a:t>
            </a:r>
          </a:p>
        </p:txBody>
      </p:sp>
      <p:sp>
        <p:nvSpPr>
          <p:cNvPr id="4" name="TextBox 3"/>
          <p:cNvSpPr txBox="1"/>
          <p:nvPr/>
        </p:nvSpPr>
        <p:spPr>
          <a:xfrm>
            <a:off x="548640" y="594360"/>
            <a:ext cx="8686800" cy="640080"/>
          </a:xfrm>
          <a:prstGeom prst="rect">
            <a:avLst/>
          </a:prstGeom>
          <a:noFill/>
        </p:spPr>
        <p:txBody>
          <a:bodyPr wrap="square" lIns="0" tIns="0" rIns="0" bIns="0" anchor="t">
            <a:spAutoFit/>
          </a:bodyPr>
          <a:lstStyle/>
          <a:p>
            <a:pPr algn="l"/>
            <a:r>
              <a:rPr sz="2400" b="1" i="0">
                <a:solidFill>
                  <a:srgbClr val="FFFFFF"/>
                </a:solidFill>
                <a:latin typeface="Calibri"/>
              </a:rPr>
              <a:t>Quatre problemes a regler</a:t>
            </a:r>
          </a:p>
        </p:txBody>
      </p:sp>
      <p:sp>
        <p:nvSpPr>
          <p:cNvPr id="7" name="Rounded Rectangle 6"/>
          <p:cNvSpPr/>
          <p:nvPr/>
        </p:nvSpPr>
        <p:spPr>
          <a:xfrm>
            <a:off x="548640" y="1417320"/>
            <a:ext cx="557784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91440" cy="2148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68680" y="1691640"/>
            <a:ext cx="640080" cy="640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691640"/>
            <a:ext cx="640080" cy="640080"/>
          </a:xfrm>
          <a:prstGeom prst="rect">
            <a:avLst/>
          </a:prstGeom>
          <a:noFill/>
        </p:spPr>
        <p:txBody>
          <a:bodyPr wrap="square" lIns="0" tIns="0" rIns="0" bIns="0" anchor="ctr">
            <a:spAutoFit/>
          </a:bodyPr>
          <a:lstStyle/>
          <a:p>
            <a:pPr algn="ctr"/>
            <a:r>
              <a:rPr sz="2000" b="1" i="0">
                <a:solidFill>
                  <a:srgbClr val="FFFFFF"/>
                </a:solidFill>
                <a:latin typeface="Calibri"/>
              </a:rPr>
              <a:t>1</a:t>
            </a:r>
          </a:p>
        </p:txBody>
      </p:sp>
      <p:sp>
        <p:nvSpPr>
          <p:cNvPr id="11" name="TextBox 10"/>
          <p:cNvSpPr txBox="1"/>
          <p:nvPr/>
        </p:nvSpPr>
        <p:spPr>
          <a:xfrm>
            <a:off x="1645920" y="1737360"/>
            <a:ext cx="4297680" cy="457200"/>
          </a:xfrm>
          <a:prstGeom prst="rect">
            <a:avLst/>
          </a:prstGeom>
          <a:noFill/>
        </p:spPr>
        <p:txBody>
          <a:bodyPr wrap="square" lIns="0" tIns="0" rIns="0" bIns="0" anchor="t">
            <a:spAutoFit/>
          </a:bodyPr>
          <a:lstStyle/>
          <a:p>
            <a:pPr algn="l"/>
            <a:r>
              <a:rPr sz="1800" b="1" i="0">
                <a:solidFill>
                  <a:srgbClr val="0F172A"/>
                </a:solidFill>
                <a:latin typeface="Calibri"/>
              </a:rPr>
              <a:t>Acquisition periodique</a:t>
            </a:r>
          </a:p>
        </p:txBody>
      </p:sp>
      <p:sp>
        <p:nvSpPr>
          <p:cNvPr id="12" name="TextBox 11"/>
          <p:cNvSpPr txBox="1"/>
          <p:nvPr/>
        </p:nvSpPr>
        <p:spPr>
          <a:xfrm>
            <a:off x="868680" y="2514600"/>
            <a:ext cx="5029200" cy="960120"/>
          </a:xfrm>
          <a:prstGeom prst="rect">
            <a:avLst/>
          </a:prstGeom>
          <a:noFill/>
        </p:spPr>
        <p:txBody>
          <a:bodyPr wrap="square" lIns="0" tIns="0" rIns="0" bIns="0" anchor="t">
            <a:spAutoFit/>
          </a:bodyPr>
          <a:lstStyle/>
          <a:p>
            <a:pPr algn="l"/>
            <a:r>
              <a:rPr sz="1300" b="0" i="0">
                <a:solidFill>
                  <a:srgbClr val="64748B"/>
                </a:solidFill>
                <a:latin typeface="Calibri"/>
              </a:rPr>
              <a:t>Echantillonner pile chaque seconde sans bloquer le CPU pendant qu'une lecture I2C est lente. Il faut un cadencement materiel propre, pas un delay logiciel.</a:t>
            </a:r>
          </a:p>
        </p:txBody>
      </p:sp>
      <p:sp>
        <p:nvSpPr>
          <p:cNvPr id="13" name="Rounded Rectangle 12"/>
          <p:cNvSpPr/>
          <p:nvPr/>
        </p:nvSpPr>
        <p:spPr>
          <a:xfrm>
            <a:off x="6263640" y="1417320"/>
            <a:ext cx="557784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417320"/>
            <a:ext cx="91440" cy="2148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83680" y="1691640"/>
            <a:ext cx="640080" cy="640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691640"/>
            <a:ext cx="640080" cy="640080"/>
          </a:xfrm>
          <a:prstGeom prst="rect">
            <a:avLst/>
          </a:prstGeom>
          <a:noFill/>
        </p:spPr>
        <p:txBody>
          <a:bodyPr wrap="square" lIns="0" tIns="0" rIns="0" bIns="0" anchor="ctr">
            <a:spAutoFit/>
          </a:bodyPr>
          <a:lstStyle/>
          <a:p>
            <a:pPr algn="ctr"/>
            <a:r>
              <a:rPr sz="2000" b="1" i="0">
                <a:solidFill>
                  <a:srgbClr val="FFFFFF"/>
                </a:solidFill>
                <a:latin typeface="Calibri"/>
              </a:rPr>
              <a:t>2</a:t>
            </a:r>
          </a:p>
        </p:txBody>
      </p:sp>
      <p:sp>
        <p:nvSpPr>
          <p:cNvPr id="17" name="TextBox 16"/>
          <p:cNvSpPr txBox="1"/>
          <p:nvPr/>
        </p:nvSpPr>
        <p:spPr>
          <a:xfrm>
            <a:off x="7360920" y="1737360"/>
            <a:ext cx="4297680" cy="457200"/>
          </a:xfrm>
          <a:prstGeom prst="rect">
            <a:avLst/>
          </a:prstGeom>
          <a:noFill/>
        </p:spPr>
        <p:txBody>
          <a:bodyPr wrap="square" lIns="0" tIns="0" rIns="0" bIns="0" anchor="t">
            <a:spAutoFit/>
          </a:bodyPr>
          <a:lstStyle/>
          <a:p>
            <a:pPr algn="l"/>
            <a:r>
              <a:rPr sz="1800" b="1" i="0">
                <a:solidFill>
                  <a:srgbClr val="0F172A"/>
                </a:solidFill>
                <a:latin typeface="Calibri"/>
              </a:rPr>
              <a:t>Coexistence des IRQ</a:t>
            </a:r>
          </a:p>
        </p:txBody>
      </p:sp>
      <p:sp>
        <p:nvSpPr>
          <p:cNvPr id="18" name="TextBox 17"/>
          <p:cNvSpPr txBox="1"/>
          <p:nvPr/>
        </p:nvSpPr>
        <p:spPr>
          <a:xfrm>
            <a:off x="6583680" y="2514600"/>
            <a:ext cx="5029200" cy="960120"/>
          </a:xfrm>
          <a:prstGeom prst="rect">
            <a:avLst/>
          </a:prstGeom>
          <a:noFill/>
        </p:spPr>
        <p:txBody>
          <a:bodyPr wrap="square" lIns="0" tIns="0" rIns="0" bIns="0" anchor="t">
            <a:spAutoFit/>
          </a:bodyPr>
          <a:lstStyle/>
          <a:p>
            <a:pPr algn="l"/>
            <a:r>
              <a:rPr sz="1300" b="0" i="0">
                <a:solidFill>
                  <a:srgbClr val="64748B"/>
                </a:solidFill>
                <a:latin typeface="Calibri"/>
              </a:rPr>
              <a:t>Deux interruptions imposees par le sujet, on en a trois (TIM6, EXTI13, USART2 RX). Il faut les rendre coherentes : priorites, anti-rebond du bouton, callbacks non bloquants.</a:t>
            </a:r>
          </a:p>
        </p:txBody>
      </p:sp>
      <p:sp>
        <p:nvSpPr>
          <p:cNvPr id="19" name="Rounded Rectangle 18"/>
          <p:cNvSpPr/>
          <p:nvPr/>
        </p:nvSpPr>
        <p:spPr>
          <a:xfrm>
            <a:off x="548640" y="3749040"/>
            <a:ext cx="557784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3749040"/>
            <a:ext cx="91440" cy="2148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68680" y="4023360"/>
            <a:ext cx="640080" cy="640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023360"/>
            <a:ext cx="640080" cy="640080"/>
          </a:xfrm>
          <a:prstGeom prst="rect">
            <a:avLst/>
          </a:prstGeom>
          <a:noFill/>
        </p:spPr>
        <p:txBody>
          <a:bodyPr wrap="square" lIns="0" tIns="0" rIns="0" bIns="0" anchor="ctr">
            <a:spAutoFit/>
          </a:bodyPr>
          <a:lstStyle/>
          <a:p>
            <a:pPr algn="ctr"/>
            <a:r>
              <a:rPr sz="2000" b="1" i="0">
                <a:solidFill>
                  <a:srgbClr val="FFFFFF"/>
                </a:solidFill>
                <a:latin typeface="Calibri"/>
              </a:rPr>
              <a:t>3</a:t>
            </a:r>
          </a:p>
        </p:txBody>
      </p:sp>
      <p:sp>
        <p:nvSpPr>
          <p:cNvPr id="23" name="TextBox 22"/>
          <p:cNvSpPr txBox="1"/>
          <p:nvPr/>
        </p:nvSpPr>
        <p:spPr>
          <a:xfrm>
            <a:off x="1645920" y="4069080"/>
            <a:ext cx="4297680" cy="457200"/>
          </a:xfrm>
          <a:prstGeom prst="rect">
            <a:avLst/>
          </a:prstGeom>
          <a:noFill/>
        </p:spPr>
        <p:txBody>
          <a:bodyPr wrap="square" lIns="0" tIns="0" rIns="0" bIns="0" anchor="t">
            <a:spAutoFit/>
          </a:bodyPr>
          <a:lstStyle/>
          <a:p>
            <a:pPr algn="l"/>
            <a:r>
              <a:rPr sz="1800" b="1" i="0">
                <a:solidFill>
                  <a:srgbClr val="0F172A"/>
                </a:solidFill>
                <a:latin typeface="Calibri"/>
              </a:rPr>
              <a:t>Erreurs multi-capteurs</a:t>
            </a:r>
          </a:p>
        </p:txBody>
      </p:sp>
      <p:sp>
        <p:nvSpPr>
          <p:cNvPr id="24" name="TextBox 23"/>
          <p:cNvSpPr txBox="1"/>
          <p:nvPr/>
        </p:nvSpPr>
        <p:spPr>
          <a:xfrm>
            <a:off x="868680" y="4846320"/>
            <a:ext cx="5029200" cy="960120"/>
          </a:xfrm>
          <a:prstGeom prst="rect">
            <a:avLst/>
          </a:prstGeom>
          <a:noFill/>
        </p:spPr>
        <p:txBody>
          <a:bodyPr wrap="square" lIns="0" tIns="0" rIns="0" bIns="0" anchor="t">
            <a:spAutoFit/>
          </a:bodyPr>
          <a:lstStyle/>
          <a:p>
            <a:pPr algn="l"/>
            <a:r>
              <a:rPr sz="1300" b="0" i="0">
                <a:solidFill>
                  <a:srgbClr val="64748B"/>
                </a:solidFill>
                <a:latin typeface="Calibri"/>
              </a:rPr>
              <a:t>Trois capteurs sur le meme bus I2C. Si l'un d'eux refuse de repondre, on doit continuer a publier les autres mesures et signaler l'erreur via une LED.</a:t>
            </a:r>
          </a:p>
        </p:txBody>
      </p:sp>
      <p:sp>
        <p:nvSpPr>
          <p:cNvPr id="25" name="Rounded Rectangle 24"/>
          <p:cNvSpPr/>
          <p:nvPr/>
        </p:nvSpPr>
        <p:spPr>
          <a:xfrm>
            <a:off x="6263640" y="3749040"/>
            <a:ext cx="5577840" cy="21488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63640" y="3749040"/>
            <a:ext cx="91440" cy="2148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583680" y="4023360"/>
            <a:ext cx="640080" cy="640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4023360"/>
            <a:ext cx="640080" cy="640080"/>
          </a:xfrm>
          <a:prstGeom prst="rect">
            <a:avLst/>
          </a:prstGeom>
          <a:noFill/>
        </p:spPr>
        <p:txBody>
          <a:bodyPr wrap="square" lIns="0" tIns="0" rIns="0" bIns="0" anchor="ctr">
            <a:spAutoFit/>
          </a:bodyPr>
          <a:lstStyle/>
          <a:p>
            <a:pPr algn="ctr"/>
            <a:r>
              <a:rPr sz="2000" b="1" i="0">
                <a:solidFill>
                  <a:srgbClr val="FFFFFF"/>
                </a:solidFill>
                <a:latin typeface="Calibri"/>
              </a:rPr>
              <a:t>4</a:t>
            </a:r>
          </a:p>
        </p:txBody>
      </p:sp>
      <p:sp>
        <p:nvSpPr>
          <p:cNvPr id="29" name="TextBox 28"/>
          <p:cNvSpPr txBox="1"/>
          <p:nvPr/>
        </p:nvSpPr>
        <p:spPr>
          <a:xfrm>
            <a:off x="7360920" y="4069080"/>
            <a:ext cx="4297680" cy="457200"/>
          </a:xfrm>
          <a:prstGeom prst="rect">
            <a:avLst/>
          </a:prstGeom>
          <a:noFill/>
        </p:spPr>
        <p:txBody>
          <a:bodyPr wrap="square" lIns="0" tIns="0" rIns="0" bIns="0" anchor="t">
            <a:spAutoFit/>
          </a:bodyPr>
          <a:lstStyle/>
          <a:p>
            <a:pPr algn="l"/>
            <a:r>
              <a:rPr sz="1800" b="1" i="0">
                <a:solidFill>
                  <a:srgbClr val="0F172A"/>
                </a:solidFill>
                <a:latin typeface="Calibri"/>
              </a:rPr>
              <a:t>Interactivite UART</a:t>
            </a:r>
          </a:p>
        </p:txBody>
      </p:sp>
      <p:sp>
        <p:nvSpPr>
          <p:cNvPr id="30" name="TextBox 29"/>
          <p:cNvSpPr txBox="1"/>
          <p:nvPr/>
        </p:nvSpPr>
        <p:spPr>
          <a:xfrm>
            <a:off x="6583680" y="4846320"/>
            <a:ext cx="5029200" cy="960120"/>
          </a:xfrm>
          <a:prstGeom prst="rect">
            <a:avLst/>
          </a:prstGeom>
          <a:noFill/>
        </p:spPr>
        <p:txBody>
          <a:bodyPr wrap="square" lIns="0" tIns="0" rIns="0" bIns="0" anchor="t">
            <a:spAutoFit/>
          </a:bodyPr>
          <a:lstStyle/>
          <a:p>
            <a:pPr algn="l"/>
            <a:r>
              <a:rPr sz="1300" b="0" i="0">
                <a:solidFill>
                  <a:srgbClr val="64748B"/>
                </a:solidFill>
                <a:latin typeface="Calibri"/>
              </a:rPr>
              <a:t>Faire saisir la ville sans figer la mesure. Lire l'UART en interruption caractere par caractere et reprendre les mesures des que la ligne est validee.</a:t>
            </a:r>
          </a:p>
        </p:txBody>
      </p:sp>
      <p:sp>
        <p:nvSpPr>
          <p:cNvPr id="31" name="TextBox 30"/>
          <p:cNvSpPr txBox="1"/>
          <p:nvPr/>
        </p:nvSpPr>
        <p:spPr>
          <a:xfrm>
            <a:off x="548640" y="6446520"/>
            <a:ext cx="7315200" cy="320040"/>
          </a:xfrm>
          <a:prstGeom prst="rect">
            <a:avLst/>
          </a:prstGeom>
          <a:noFill/>
        </p:spPr>
        <p:txBody>
          <a:bodyPr wrap="square" lIns="0" tIns="0" rIns="0" bIns="0" anchor="t">
            <a:spAutoFit/>
          </a:bodyPr>
          <a:lstStyle/>
          <a:p>
            <a:pPr algn="l"/>
            <a:r>
              <a:rPr sz="1000" b="0" i="1">
                <a:solidFill>
                  <a:srgbClr val="64748B"/>
                </a:solidFill>
                <a:latin typeface="Calibri"/>
              </a:rPr>
              <a:t>STM32 Meteo Station - NUCLEO-L152RE + X-NUCLEO-IKS01A3 - P23MRS 2026</a:t>
            </a:r>
          </a:p>
        </p:txBody>
      </p:sp>
      <p:sp>
        <p:nvSpPr>
          <p:cNvPr id="32" name="TextBox 31"/>
          <p:cNvSpPr txBox="1"/>
          <p:nvPr/>
        </p:nvSpPr>
        <p:spPr>
          <a:xfrm>
            <a:off x="11338560" y="6446520"/>
            <a:ext cx="457200" cy="320040"/>
          </a:xfrm>
          <a:prstGeom prst="rect">
            <a:avLst/>
          </a:prstGeom>
          <a:noFill/>
        </p:spPr>
        <p:txBody>
          <a:bodyPr wrap="square" lIns="0" tIns="0" rIns="0" bIns="0" anchor="t">
            <a:spAutoFit/>
          </a:bodyPr>
          <a:lstStyle/>
          <a:p>
            <a:pPr algn="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4572000" cy="365760"/>
          </a:xfrm>
          <a:prstGeom prst="rect">
            <a:avLst/>
          </a:prstGeom>
          <a:noFill/>
        </p:spPr>
        <p:txBody>
          <a:bodyPr wrap="square" lIns="0" tIns="0" rIns="0" bIns="0" anchor="t">
            <a:spAutoFit/>
          </a:bodyPr>
          <a:lstStyle/>
          <a:p>
            <a:pPr algn="l"/>
            <a:r>
              <a:rPr sz="1300" b="1" i="0">
                <a:solidFill>
                  <a:srgbClr val="F59E0B"/>
                </a:solidFill>
                <a:latin typeface="Consolas"/>
              </a:rPr>
              <a:t>04 / 06   RESOLUTION</a:t>
            </a:r>
          </a:p>
        </p:txBody>
      </p:sp>
      <p:sp>
        <p:nvSpPr>
          <p:cNvPr id="4" name="TextBox 3"/>
          <p:cNvSpPr txBox="1"/>
          <p:nvPr/>
        </p:nvSpPr>
        <p:spPr>
          <a:xfrm>
            <a:off x="548640" y="594360"/>
            <a:ext cx="8686800" cy="640080"/>
          </a:xfrm>
          <a:prstGeom prst="rect">
            <a:avLst/>
          </a:prstGeom>
          <a:noFill/>
        </p:spPr>
        <p:txBody>
          <a:bodyPr wrap="square" lIns="0" tIns="0" rIns="0" bIns="0" anchor="t">
            <a:spAutoFit/>
          </a:bodyPr>
          <a:lstStyle/>
          <a:p>
            <a:pPr algn="l"/>
            <a:r>
              <a:rPr sz="2400" b="1" i="0">
                <a:solidFill>
                  <a:srgbClr val="FFFFFF"/>
                </a:solidFill>
                <a:latin typeface="Calibri"/>
              </a:rPr>
              <a:t>Pattern flag-driven et separation des couches</a:t>
            </a:r>
          </a:p>
        </p:txBody>
      </p:sp>
      <p:sp>
        <p:nvSpPr>
          <p:cNvPr id="7" name="Rounded Rectangle 6"/>
          <p:cNvSpPr/>
          <p:nvPr/>
        </p:nvSpPr>
        <p:spPr>
          <a:xfrm>
            <a:off x="548640" y="1417320"/>
            <a:ext cx="5943600" cy="4754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91440" cy="47548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600200"/>
            <a:ext cx="5440680" cy="365760"/>
          </a:xfrm>
          <a:prstGeom prst="rect">
            <a:avLst/>
          </a:prstGeom>
          <a:noFill/>
        </p:spPr>
        <p:txBody>
          <a:bodyPr wrap="square" lIns="0" tIns="0" rIns="0" bIns="0" anchor="t">
            <a:spAutoFit/>
          </a:bodyPr>
          <a:lstStyle/>
          <a:p>
            <a:pPr algn="l"/>
            <a:r>
              <a:rPr sz="1200" b="1" i="0">
                <a:solidFill>
                  <a:srgbClr val="1C7293"/>
                </a:solidFill>
                <a:latin typeface="Consolas"/>
              </a:rPr>
              <a:t>ARCHITECTURE</a:t>
            </a:r>
          </a:p>
        </p:txBody>
      </p:sp>
      <p:sp>
        <p:nvSpPr>
          <p:cNvPr id="10" name="TextBox 9"/>
          <p:cNvSpPr txBox="1"/>
          <p:nvPr/>
        </p:nvSpPr>
        <p:spPr>
          <a:xfrm>
            <a:off x="868680" y="1920240"/>
            <a:ext cx="5440680" cy="457200"/>
          </a:xfrm>
          <a:prstGeom prst="rect">
            <a:avLst/>
          </a:prstGeom>
          <a:noFill/>
        </p:spPr>
        <p:txBody>
          <a:bodyPr wrap="square" lIns="0" tIns="0" rIns="0" bIns="0" anchor="t">
            <a:spAutoFit/>
          </a:bodyPr>
          <a:lstStyle/>
          <a:p>
            <a:pPr algn="l"/>
            <a:r>
              <a:rPr sz="1900" b="1" i="0">
                <a:solidFill>
                  <a:srgbClr val="0F172A"/>
                </a:solidFill>
                <a:latin typeface="Calibri"/>
              </a:rPr>
              <a:t>ISR ---&gt; drapeau ---&gt; main loop</a:t>
            </a:r>
          </a:p>
        </p:txBody>
      </p:sp>
      <p:sp>
        <p:nvSpPr>
          <p:cNvPr id="11" name="Rounded Rectangle 10"/>
          <p:cNvSpPr/>
          <p:nvPr/>
        </p:nvSpPr>
        <p:spPr>
          <a:xfrm>
            <a:off x="868680" y="2788920"/>
            <a:ext cx="1645920" cy="50292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788920"/>
            <a:ext cx="1645920" cy="502920"/>
          </a:xfrm>
          <a:prstGeom prst="rect">
            <a:avLst/>
          </a:prstGeom>
          <a:noFill/>
        </p:spPr>
        <p:txBody>
          <a:bodyPr wrap="square" lIns="0" tIns="0" rIns="0" bIns="0" anchor="ctr">
            <a:spAutoFit/>
          </a:bodyPr>
          <a:lstStyle/>
          <a:p>
            <a:pPr algn="ctr"/>
            <a:r>
              <a:rPr sz="1100" b="1" i="0">
                <a:solidFill>
                  <a:srgbClr val="FFFFFF"/>
                </a:solidFill>
                <a:latin typeface="Consolas"/>
              </a:rPr>
              <a:t>TIM6 IRQ</a:t>
            </a:r>
          </a:p>
        </p:txBody>
      </p:sp>
      <p:sp>
        <p:nvSpPr>
          <p:cNvPr id="13" name="TextBox 12"/>
          <p:cNvSpPr txBox="1"/>
          <p:nvPr/>
        </p:nvSpPr>
        <p:spPr>
          <a:xfrm>
            <a:off x="2514600" y="2788920"/>
            <a:ext cx="365760" cy="502920"/>
          </a:xfrm>
          <a:prstGeom prst="rect">
            <a:avLst/>
          </a:prstGeom>
          <a:noFill/>
        </p:spPr>
        <p:txBody>
          <a:bodyPr wrap="square" lIns="0" tIns="0" rIns="0" bIns="0" anchor="ctr">
            <a:spAutoFit/>
          </a:bodyPr>
          <a:lstStyle/>
          <a:p>
            <a:pPr algn="ctr"/>
            <a:r>
              <a:rPr sz="2200" b="1" i="0">
                <a:solidFill>
                  <a:srgbClr val="F59E0B"/>
                </a:solidFill>
                <a:latin typeface="Consolas"/>
              </a:rPr>
              <a:t>&gt;</a:t>
            </a:r>
          </a:p>
        </p:txBody>
      </p:sp>
      <p:sp>
        <p:nvSpPr>
          <p:cNvPr id="14" name="Rounded Rectangle 13"/>
          <p:cNvSpPr/>
          <p:nvPr/>
        </p:nvSpPr>
        <p:spPr>
          <a:xfrm>
            <a:off x="868680" y="3456432"/>
            <a:ext cx="1645920" cy="50292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456432"/>
            <a:ext cx="1645920" cy="502920"/>
          </a:xfrm>
          <a:prstGeom prst="rect">
            <a:avLst/>
          </a:prstGeom>
          <a:noFill/>
        </p:spPr>
        <p:txBody>
          <a:bodyPr wrap="square" lIns="0" tIns="0" rIns="0" bIns="0" anchor="ctr">
            <a:spAutoFit/>
          </a:bodyPr>
          <a:lstStyle/>
          <a:p>
            <a:pPr algn="ctr"/>
            <a:r>
              <a:rPr sz="1100" b="1" i="0">
                <a:solidFill>
                  <a:srgbClr val="FFFFFF"/>
                </a:solidFill>
                <a:latin typeface="Consolas"/>
              </a:rPr>
              <a:t>EXTI13 IRQ</a:t>
            </a:r>
          </a:p>
        </p:txBody>
      </p:sp>
      <p:sp>
        <p:nvSpPr>
          <p:cNvPr id="16" name="TextBox 15"/>
          <p:cNvSpPr txBox="1"/>
          <p:nvPr/>
        </p:nvSpPr>
        <p:spPr>
          <a:xfrm>
            <a:off x="2514600" y="3456432"/>
            <a:ext cx="365760" cy="502920"/>
          </a:xfrm>
          <a:prstGeom prst="rect">
            <a:avLst/>
          </a:prstGeom>
          <a:noFill/>
        </p:spPr>
        <p:txBody>
          <a:bodyPr wrap="square" lIns="0" tIns="0" rIns="0" bIns="0" anchor="ctr">
            <a:spAutoFit/>
          </a:bodyPr>
          <a:lstStyle/>
          <a:p>
            <a:pPr algn="ctr"/>
            <a:r>
              <a:rPr sz="2200" b="1" i="0">
                <a:solidFill>
                  <a:srgbClr val="F59E0B"/>
                </a:solidFill>
                <a:latin typeface="Consolas"/>
              </a:rPr>
              <a:t>&gt;</a:t>
            </a:r>
          </a:p>
        </p:txBody>
      </p:sp>
      <p:sp>
        <p:nvSpPr>
          <p:cNvPr id="17" name="Rounded Rectangle 16"/>
          <p:cNvSpPr/>
          <p:nvPr/>
        </p:nvSpPr>
        <p:spPr>
          <a:xfrm>
            <a:off x="868680" y="4123944"/>
            <a:ext cx="1645920" cy="50292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123944"/>
            <a:ext cx="1645920" cy="502920"/>
          </a:xfrm>
          <a:prstGeom prst="rect">
            <a:avLst/>
          </a:prstGeom>
          <a:noFill/>
        </p:spPr>
        <p:txBody>
          <a:bodyPr wrap="square" lIns="0" tIns="0" rIns="0" bIns="0" anchor="ctr">
            <a:spAutoFit/>
          </a:bodyPr>
          <a:lstStyle/>
          <a:p>
            <a:pPr algn="ctr"/>
            <a:r>
              <a:rPr sz="1100" b="1" i="0">
                <a:solidFill>
                  <a:srgbClr val="FFFFFF"/>
                </a:solidFill>
                <a:latin typeface="Consolas"/>
              </a:rPr>
              <a:t>USART2 RX IRQ</a:t>
            </a:r>
          </a:p>
        </p:txBody>
      </p:sp>
      <p:sp>
        <p:nvSpPr>
          <p:cNvPr id="19" name="TextBox 18"/>
          <p:cNvSpPr txBox="1"/>
          <p:nvPr/>
        </p:nvSpPr>
        <p:spPr>
          <a:xfrm>
            <a:off x="2514600" y="4123944"/>
            <a:ext cx="365760" cy="502920"/>
          </a:xfrm>
          <a:prstGeom prst="rect">
            <a:avLst/>
          </a:prstGeom>
          <a:noFill/>
        </p:spPr>
        <p:txBody>
          <a:bodyPr wrap="square" lIns="0" tIns="0" rIns="0" bIns="0" anchor="ctr">
            <a:spAutoFit/>
          </a:bodyPr>
          <a:lstStyle/>
          <a:p>
            <a:pPr algn="ctr"/>
            <a:r>
              <a:rPr sz="2200" b="1" i="0">
                <a:solidFill>
                  <a:srgbClr val="F59E0B"/>
                </a:solidFill>
                <a:latin typeface="Consolas"/>
              </a:rPr>
              <a:t>&gt;</a:t>
            </a:r>
          </a:p>
        </p:txBody>
      </p:sp>
      <p:sp>
        <p:nvSpPr>
          <p:cNvPr id="20" name="Rounded Rectangle 19"/>
          <p:cNvSpPr/>
          <p:nvPr/>
        </p:nvSpPr>
        <p:spPr>
          <a:xfrm>
            <a:off x="2880360" y="2788920"/>
            <a:ext cx="1463040" cy="1837944"/>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80360" y="2788920"/>
            <a:ext cx="1463040" cy="1837944"/>
          </a:xfrm>
          <a:prstGeom prst="rect">
            <a:avLst/>
          </a:prstGeom>
          <a:noFill/>
        </p:spPr>
        <p:txBody>
          <a:bodyPr wrap="square" lIns="0" tIns="0" rIns="0" bIns="0" anchor="ctr">
            <a:spAutoFit/>
          </a:bodyPr>
          <a:lstStyle/>
          <a:p>
            <a:pPr algn="ctr"/>
            <a:r>
              <a:rPr sz="1100" b="1" i="0">
                <a:solidFill>
                  <a:srgbClr val="FFFFFF"/>
                </a:solidFill>
                <a:latin typeface="Consolas"/>
              </a:rPr>
              <a:t>while (1)
sensors I2C
UART printf
LEDs</a:t>
            </a:r>
          </a:p>
        </p:txBody>
      </p:sp>
      <p:sp>
        <p:nvSpPr>
          <p:cNvPr id="22" name="TextBox 21"/>
          <p:cNvSpPr txBox="1"/>
          <p:nvPr/>
        </p:nvSpPr>
        <p:spPr>
          <a:xfrm>
            <a:off x="4343400" y="2788920"/>
            <a:ext cx="365760" cy="502920"/>
          </a:xfrm>
          <a:prstGeom prst="rect">
            <a:avLst/>
          </a:prstGeom>
          <a:noFill/>
        </p:spPr>
        <p:txBody>
          <a:bodyPr wrap="square" lIns="0" tIns="0" rIns="0" bIns="0" anchor="ctr">
            <a:spAutoFit/>
          </a:bodyPr>
          <a:lstStyle/>
          <a:p>
            <a:pPr algn="ctr"/>
            <a:r>
              <a:rPr sz="2200" b="1" i="0">
                <a:solidFill>
                  <a:srgbClr val="F59E0B"/>
                </a:solidFill>
                <a:latin typeface="Consolas"/>
              </a:rPr>
              <a:t>&gt;</a:t>
            </a:r>
          </a:p>
        </p:txBody>
      </p:sp>
      <p:sp>
        <p:nvSpPr>
          <p:cNvPr id="23" name="Rounded Rectangle 22"/>
          <p:cNvSpPr/>
          <p:nvPr/>
        </p:nvSpPr>
        <p:spPr>
          <a:xfrm>
            <a:off x="4709160" y="2788920"/>
            <a:ext cx="1463040" cy="502920"/>
          </a:xfrm>
          <a:prstGeom prst="roundRect">
            <a:avLst>
              <a:gd name="adj" fmla="val 1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9160" y="2788920"/>
            <a:ext cx="1463040" cy="502920"/>
          </a:xfrm>
          <a:prstGeom prst="rect">
            <a:avLst/>
          </a:prstGeom>
          <a:noFill/>
        </p:spPr>
        <p:txBody>
          <a:bodyPr wrap="square" lIns="0" tIns="0" rIns="0" bIns="0" anchor="ctr">
            <a:spAutoFit/>
          </a:bodyPr>
          <a:lstStyle/>
          <a:p>
            <a:pPr algn="ctr"/>
            <a:r>
              <a:rPr sz="1100" b="1" i="0">
                <a:solidFill>
                  <a:srgbClr val="FFFFFF"/>
                </a:solidFill>
                <a:latin typeface="Consolas"/>
              </a:rPr>
              <a:t>UART line</a:t>
            </a:r>
          </a:p>
        </p:txBody>
      </p:sp>
      <p:sp>
        <p:nvSpPr>
          <p:cNvPr id="25" name="TextBox 24"/>
          <p:cNvSpPr txBox="1"/>
          <p:nvPr/>
        </p:nvSpPr>
        <p:spPr>
          <a:xfrm>
            <a:off x="4343400" y="3456432"/>
            <a:ext cx="365760" cy="502920"/>
          </a:xfrm>
          <a:prstGeom prst="rect">
            <a:avLst/>
          </a:prstGeom>
          <a:noFill/>
        </p:spPr>
        <p:txBody>
          <a:bodyPr wrap="square" lIns="0" tIns="0" rIns="0" bIns="0" anchor="ctr">
            <a:spAutoFit/>
          </a:bodyPr>
          <a:lstStyle/>
          <a:p>
            <a:pPr algn="ctr"/>
            <a:r>
              <a:rPr sz="2200" b="1" i="0">
                <a:solidFill>
                  <a:srgbClr val="F59E0B"/>
                </a:solidFill>
                <a:latin typeface="Consolas"/>
              </a:rPr>
              <a:t>&gt;</a:t>
            </a:r>
          </a:p>
        </p:txBody>
      </p:sp>
      <p:sp>
        <p:nvSpPr>
          <p:cNvPr id="26" name="Rounded Rectangle 25"/>
          <p:cNvSpPr/>
          <p:nvPr/>
        </p:nvSpPr>
        <p:spPr>
          <a:xfrm>
            <a:off x="4709160" y="3456432"/>
            <a:ext cx="1463040" cy="502920"/>
          </a:xfrm>
          <a:prstGeom prst="roundRect">
            <a:avLst>
              <a:gd name="adj" fmla="val 1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09160" y="3456432"/>
            <a:ext cx="1463040" cy="502920"/>
          </a:xfrm>
          <a:prstGeom prst="rect">
            <a:avLst/>
          </a:prstGeom>
          <a:noFill/>
        </p:spPr>
        <p:txBody>
          <a:bodyPr wrap="square" lIns="0" tIns="0" rIns="0" bIns="0" anchor="ctr">
            <a:spAutoFit/>
          </a:bodyPr>
          <a:lstStyle/>
          <a:p>
            <a:pPr algn="ctr"/>
            <a:r>
              <a:rPr sz="1100" b="1" i="0">
                <a:solidFill>
                  <a:srgbClr val="FFFFFF"/>
                </a:solidFill>
                <a:latin typeface="Consolas"/>
              </a:rPr>
              <a:t>LED status</a:t>
            </a:r>
          </a:p>
        </p:txBody>
      </p:sp>
      <p:sp>
        <p:nvSpPr>
          <p:cNvPr id="28" name="TextBox 27"/>
          <p:cNvSpPr txBox="1"/>
          <p:nvPr/>
        </p:nvSpPr>
        <p:spPr>
          <a:xfrm>
            <a:off x="4343400" y="4123944"/>
            <a:ext cx="365760" cy="502920"/>
          </a:xfrm>
          <a:prstGeom prst="rect">
            <a:avLst/>
          </a:prstGeom>
          <a:noFill/>
        </p:spPr>
        <p:txBody>
          <a:bodyPr wrap="square" lIns="0" tIns="0" rIns="0" bIns="0" anchor="ctr">
            <a:spAutoFit/>
          </a:bodyPr>
          <a:lstStyle/>
          <a:p>
            <a:pPr algn="ctr"/>
            <a:r>
              <a:rPr sz="2200" b="1" i="0">
                <a:solidFill>
                  <a:srgbClr val="F59E0B"/>
                </a:solidFill>
                <a:latin typeface="Consolas"/>
              </a:rPr>
              <a:t>&gt;</a:t>
            </a:r>
          </a:p>
        </p:txBody>
      </p:sp>
      <p:sp>
        <p:nvSpPr>
          <p:cNvPr id="29" name="Rounded Rectangle 28"/>
          <p:cNvSpPr/>
          <p:nvPr/>
        </p:nvSpPr>
        <p:spPr>
          <a:xfrm>
            <a:off x="4709160" y="4123944"/>
            <a:ext cx="1463040" cy="502920"/>
          </a:xfrm>
          <a:prstGeom prst="roundRect">
            <a:avLst>
              <a:gd name="adj" fmla="val 1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09160" y="4123944"/>
            <a:ext cx="1463040" cy="502920"/>
          </a:xfrm>
          <a:prstGeom prst="rect">
            <a:avLst/>
          </a:prstGeom>
          <a:noFill/>
        </p:spPr>
        <p:txBody>
          <a:bodyPr wrap="square" lIns="0" tIns="0" rIns="0" bIns="0" anchor="ctr">
            <a:spAutoFit/>
          </a:bodyPr>
          <a:lstStyle/>
          <a:p>
            <a:pPr algn="ctr"/>
            <a:r>
              <a:rPr sz="1100" b="1" i="0">
                <a:solidFill>
                  <a:srgbClr val="FFFFFF"/>
                </a:solidFill>
                <a:latin typeface="Consolas"/>
              </a:rPr>
              <a:t>Heartbeat</a:t>
            </a:r>
          </a:p>
        </p:txBody>
      </p:sp>
      <p:sp>
        <p:nvSpPr>
          <p:cNvPr id="31" name="Rounded Rectangle 30"/>
          <p:cNvSpPr/>
          <p:nvPr/>
        </p:nvSpPr>
        <p:spPr>
          <a:xfrm>
            <a:off x="6858000" y="1417320"/>
            <a:ext cx="4846320" cy="10789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858000" y="1417320"/>
            <a:ext cx="73152"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86600" y="1554480"/>
            <a:ext cx="4480560" cy="365760"/>
          </a:xfrm>
          <a:prstGeom prst="rect">
            <a:avLst/>
          </a:prstGeom>
          <a:noFill/>
        </p:spPr>
        <p:txBody>
          <a:bodyPr wrap="square" lIns="0" tIns="0" rIns="0" bIns="0" anchor="t">
            <a:spAutoFit/>
          </a:bodyPr>
          <a:lstStyle/>
          <a:p>
            <a:pPr algn="l"/>
            <a:r>
              <a:rPr sz="1500" b="1" i="0">
                <a:solidFill>
                  <a:srgbClr val="065A82"/>
                </a:solidFill>
                <a:latin typeface="Calibri"/>
              </a:rPr>
              <a:t>Non bloquant</a:t>
            </a:r>
          </a:p>
        </p:txBody>
      </p:sp>
      <p:sp>
        <p:nvSpPr>
          <p:cNvPr id="34" name="TextBox 33"/>
          <p:cNvSpPr txBox="1"/>
          <p:nvPr/>
        </p:nvSpPr>
        <p:spPr>
          <a:xfrm>
            <a:off x="7086600" y="1920240"/>
            <a:ext cx="4480560" cy="484632"/>
          </a:xfrm>
          <a:prstGeom prst="rect">
            <a:avLst/>
          </a:prstGeom>
          <a:noFill/>
        </p:spPr>
        <p:txBody>
          <a:bodyPr wrap="square" lIns="0" tIns="0" rIns="0" bIns="0" anchor="t">
            <a:spAutoFit/>
          </a:bodyPr>
          <a:lstStyle/>
          <a:p>
            <a:pPr algn="l"/>
            <a:r>
              <a:rPr sz="1200" b="0" i="0">
                <a:solidFill>
                  <a:srgbClr val="64748B"/>
                </a:solidFill>
                <a:latin typeface="Calibri"/>
              </a:rPr>
              <a:t>Les ISR ne font que lever un drapeau et reviennent en &lt; 1 us.</a:t>
            </a:r>
          </a:p>
        </p:txBody>
      </p:sp>
      <p:sp>
        <p:nvSpPr>
          <p:cNvPr id="35" name="Rounded Rectangle 34"/>
          <p:cNvSpPr/>
          <p:nvPr/>
        </p:nvSpPr>
        <p:spPr>
          <a:xfrm>
            <a:off x="6858000" y="2606040"/>
            <a:ext cx="4846320" cy="10789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858000" y="2606040"/>
            <a:ext cx="73152"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86600" y="2743200"/>
            <a:ext cx="4480560" cy="365760"/>
          </a:xfrm>
          <a:prstGeom prst="rect">
            <a:avLst/>
          </a:prstGeom>
          <a:noFill/>
        </p:spPr>
        <p:txBody>
          <a:bodyPr wrap="square" lIns="0" tIns="0" rIns="0" bIns="0" anchor="t">
            <a:spAutoFit/>
          </a:bodyPr>
          <a:lstStyle/>
          <a:p>
            <a:pPr algn="l"/>
            <a:r>
              <a:rPr sz="1500" b="1" i="0">
                <a:solidFill>
                  <a:srgbClr val="065A82"/>
                </a:solidFill>
                <a:latin typeface="Calibri"/>
              </a:rPr>
              <a:t>Anti-rebond</a:t>
            </a:r>
          </a:p>
        </p:txBody>
      </p:sp>
      <p:sp>
        <p:nvSpPr>
          <p:cNvPr id="38" name="TextBox 37"/>
          <p:cNvSpPr txBox="1"/>
          <p:nvPr/>
        </p:nvSpPr>
        <p:spPr>
          <a:xfrm>
            <a:off x="7086600" y="3108960"/>
            <a:ext cx="4480560" cy="484632"/>
          </a:xfrm>
          <a:prstGeom prst="rect">
            <a:avLst/>
          </a:prstGeom>
          <a:noFill/>
        </p:spPr>
        <p:txBody>
          <a:bodyPr wrap="square" lIns="0" tIns="0" rIns="0" bIns="0" anchor="t">
            <a:spAutoFit/>
          </a:bodyPr>
          <a:lstStyle/>
          <a:p>
            <a:pPr algn="l"/>
            <a:r>
              <a:rPr sz="1200" b="0" i="0">
                <a:solidFill>
                  <a:srgbClr val="64748B"/>
                </a:solidFill>
                <a:latin typeface="Calibri"/>
              </a:rPr>
              <a:t>HAL_GetTick() + fenetre 50 ms sur le bouton B1.</a:t>
            </a:r>
          </a:p>
        </p:txBody>
      </p:sp>
      <p:sp>
        <p:nvSpPr>
          <p:cNvPr id="39" name="Rounded Rectangle 38"/>
          <p:cNvSpPr/>
          <p:nvPr/>
        </p:nvSpPr>
        <p:spPr>
          <a:xfrm>
            <a:off x="6858000" y="3794760"/>
            <a:ext cx="4846320" cy="10789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858000" y="3794760"/>
            <a:ext cx="73152"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86600" y="3931920"/>
            <a:ext cx="4480560" cy="365760"/>
          </a:xfrm>
          <a:prstGeom prst="rect">
            <a:avLst/>
          </a:prstGeom>
          <a:noFill/>
        </p:spPr>
        <p:txBody>
          <a:bodyPr wrap="square" lIns="0" tIns="0" rIns="0" bIns="0" anchor="t">
            <a:spAutoFit/>
          </a:bodyPr>
          <a:lstStyle/>
          <a:p>
            <a:pPr algn="l"/>
            <a:r>
              <a:rPr sz="1500" b="1" i="0">
                <a:solidFill>
                  <a:srgbClr val="065A82"/>
                </a:solidFill>
                <a:latin typeface="Calibri"/>
              </a:rPr>
              <a:t>Pause interactive</a:t>
            </a:r>
          </a:p>
        </p:txBody>
      </p:sp>
      <p:sp>
        <p:nvSpPr>
          <p:cNvPr id="42" name="TextBox 41"/>
          <p:cNvSpPr txBox="1"/>
          <p:nvPr/>
        </p:nvSpPr>
        <p:spPr>
          <a:xfrm>
            <a:off x="7086600" y="4297680"/>
            <a:ext cx="4480560" cy="484632"/>
          </a:xfrm>
          <a:prstGeom prst="rect">
            <a:avLst/>
          </a:prstGeom>
          <a:noFill/>
        </p:spPr>
        <p:txBody>
          <a:bodyPr wrap="square" lIns="0" tIns="0" rIns="0" bIns="0" anchor="t">
            <a:spAutoFit/>
          </a:bodyPr>
          <a:lstStyle/>
          <a:p>
            <a:pPr algn="l"/>
            <a:r>
              <a:rPr sz="1200" b="0" i="0">
                <a:solidFill>
                  <a:srgbClr val="64748B"/>
                </a:solidFill>
                <a:latin typeface="Calibri"/>
              </a:rPr>
              <a:t>g_paused = 1 stoppe la telemetrie pendant la saisie ville.</a:t>
            </a:r>
          </a:p>
        </p:txBody>
      </p:sp>
      <p:sp>
        <p:nvSpPr>
          <p:cNvPr id="43" name="Rounded Rectangle 42"/>
          <p:cNvSpPr/>
          <p:nvPr/>
        </p:nvSpPr>
        <p:spPr>
          <a:xfrm>
            <a:off x="6858000" y="4983480"/>
            <a:ext cx="4846320" cy="10789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58000" y="4983480"/>
            <a:ext cx="73152"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086600" y="5120640"/>
            <a:ext cx="4480560" cy="365760"/>
          </a:xfrm>
          <a:prstGeom prst="rect">
            <a:avLst/>
          </a:prstGeom>
          <a:noFill/>
        </p:spPr>
        <p:txBody>
          <a:bodyPr wrap="square" lIns="0" tIns="0" rIns="0" bIns="0" anchor="t">
            <a:spAutoFit/>
          </a:bodyPr>
          <a:lstStyle/>
          <a:p>
            <a:pPr algn="l"/>
            <a:r>
              <a:rPr sz="1500" b="1" i="0">
                <a:solidFill>
                  <a:srgbClr val="065A82"/>
                </a:solidFill>
                <a:latin typeface="Calibri"/>
              </a:rPr>
              <a:t>Robustesse capteurs</a:t>
            </a:r>
          </a:p>
        </p:txBody>
      </p:sp>
      <p:sp>
        <p:nvSpPr>
          <p:cNvPr id="46" name="TextBox 45"/>
          <p:cNvSpPr txBox="1"/>
          <p:nvPr/>
        </p:nvSpPr>
        <p:spPr>
          <a:xfrm>
            <a:off x="7086600" y="5486400"/>
            <a:ext cx="4480560" cy="484632"/>
          </a:xfrm>
          <a:prstGeom prst="rect">
            <a:avLst/>
          </a:prstGeom>
          <a:noFill/>
        </p:spPr>
        <p:txBody>
          <a:bodyPr wrap="square" lIns="0" tIns="0" rIns="0" bIns="0" anchor="t">
            <a:spAutoFit/>
          </a:bodyPr>
          <a:lstStyle/>
          <a:p>
            <a:pPr algn="l"/>
            <a:r>
              <a:rPr sz="1200" b="0" i="0">
                <a:solidFill>
                  <a:srgbClr val="64748B"/>
                </a:solidFill>
                <a:latin typeface="Calibri"/>
              </a:rPr>
              <a:t>Init et lecture verifient BSP_ERROR_NONE, LED L1 sur faute.</a:t>
            </a:r>
          </a:p>
        </p:txBody>
      </p:sp>
      <p:sp>
        <p:nvSpPr>
          <p:cNvPr id="47" name="TextBox 46"/>
          <p:cNvSpPr txBox="1"/>
          <p:nvPr/>
        </p:nvSpPr>
        <p:spPr>
          <a:xfrm>
            <a:off x="548640" y="6446520"/>
            <a:ext cx="7315200" cy="320040"/>
          </a:xfrm>
          <a:prstGeom prst="rect">
            <a:avLst/>
          </a:prstGeom>
          <a:noFill/>
        </p:spPr>
        <p:txBody>
          <a:bodyPr wrap="square" lIns="0" tIns="0" rIns="0" bIns="0" anchor="t">
            <a:spAutoFit/>
          </a:bodyPr>
          <a:lstStyle/>
          <a:p>
            <a:pPr algn="l"/>
            <a:r>
              <a:rPr sz="1000" b="0" i="1">
                <a:solidFill>
                  <a:srgbClr val="64748B"/>
                </a:solidFill>
                <a:latin typeface="Calibri"/>
              </a:rPr>
              <a:t>STM32 Meteo Station - NUCLEO-L152RE + X-NUCLEO-IKS01A3 - P23MRS 2026</a:t>
            </a:r>
          </a:p>
        </p:txBody>
      </p:sp>
      <p:sp>
        <p:nvSpPr>
          <p:cNvPr id="48" name="TextBox 47"/>
          <p:cNvSpPr txBox="1"/>
          <p:nvPr/>
        </p:nvSpPr>
        <p:spPr>
          <a:xfrm>
            <a:off x="11338560" y="6446520"/>
            <a:ext cx="457200" cy="320040"/>
          </a:xfrm>
          <a:prstGeom prst="rect">
            <a:avLst/>
          </a:prstGeom>
          <a:noFill/>
        </p:spPr>
        <p:txBody>
          <a:bodyPr wrap="square" lIns="0" tIns="0" rIns="0" bIns="0" anchor="t">
            <a:spAutoFit/>
          </a:bodyPr>
          <a:lstStyle/>
          <a:p>
            <a:pPr algn="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4572000" cy="365760"/>
          </a:xfrm>
          <a:prstGeom prst="rect">
            <a:avLst/>
          </a:prstGeom>
          <a:noFill/>
        </p:spPr>
        <p:txBody>
          <a:bodyPr wrap="square" lIns="0" tIns="0" rIns="0" bIns="0" anchor="t">
            <a:spAutoFit/>
          </a:bodyPr>
          <a:lstStyle/>
          <a:p>
            <a:pPr algn="l"/>
            <a:r>
              <a:rPr sz="1300" b="1" i="0">
                <a:solidFill>
                  <a:srgbClr val="F59E0B"/>
                </a:solidFill>
                <a:latin typeface="Consolas"/>
              </a:rPr>
              <a:t>05 / 06   DEMO</a:t>
            </a:r>
          </a:p>
        </p:txBody>
      </p:sp>
      <p:sp>
        <p:nvSpPr>
          <p:cNvPr id="4" name="TextBox 3"/>
          <p:cNvSpPr txBox="1"/>
          <p:nvPr/>
        </p:nvSpPr>
        <p:spPr>
          <a:xfrm>
            <a:off x="548640" y="594360"/>
            <a:ext cx="8686800" cy="640080"/>
          </a:xfrm>
          <a:prstGeom prst="rect">
            <a:avLst/>
          </a:prstGeom>
          <a:noFill/>
        </p:spPr>
        <p:txBody>
          <a:bodyPr wrap="square" lIns="0" tIns="0" rIns="0" bIns="0" anchor="t">
            <a:spAutoFit/>
          </a:bodyPr>
          <a:lstStyle/>
          <a:p>
            <a:pPr algn="l"/>
            <a:r>
              <a:rPr sz="2400" b="1" i="0">
                <a:solidFill>
                  <a:srgbClr val="FFFFFF"/>
                </a:solidFill>
                <a:latin typeface="Calibri"/>
              </a:rPr>
              <a:t>Demonstration en direct</a:t>
            </a:r>
          </a:p>
        </p:txBody>
      </p:sp>
      <p:sp>
        <p:nvSpPr>
          <p:cNvPr id="7" name="Rounded Rectangle 6"/>
          <p:cNvSpPr/>
          <p:nvPr/>
        </p:nvSpPr>
        <p:spPr>
          <a:xfrm>
            <a:off x="548640" y="1417320"/>
            <a:ext cx="5760720" cy="4754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91440" cy="47548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600200"/>
            <a:ext cx="5257800" cy="365760"/>
          </a:xfrm>
          <a:prstGeom prst="rect">
            <a:avLst/>
          </a:prstGeom>
          <a:noFill/>
        </p:spPr>
        <p:txBody>
          <a:bodyPr wrap="square" lIns="0" tIns="0" rIns="0" bIns="0" anchor="t">
            <a:spAutoFit/>
          </a:bodyPr>
          <a:lstStyle/>
          <a:p>
            <a:pPr algn="l"/>
            <a:r>
              <a:rPr sz="1200" b="1" i="0">
                <a:solidFill>
                  <a:srgbClr val="065A82"/>
                </a:solidFill>
                <a:latin typeface="Consolas"/>
              </a:rPr>
              <a:t>SCENARIO</a:t>
            </a:r>
          </a:p>
        </p:txBody>
      </p:sp>
      <p:sp>
        <p:nvSpPr>
          <p:cNvPr id="10" name="TextBox 9"/>
          <p:cNvSpPr txBox="1"/>
          <p:nvPr/>
        </p:nvSpPr>
        <p:spPr>
          <a:xfrm>
            <a:off x="868680" y="1920240"/>
            <a:ext cx="5257800" cy="457200"/>
          </a:xfrm>
          <a:prstGeom prst="rect">
            <a:avLst/>
          </a:prstGeom>
          <a:noFill/>
        </p:spPr>
        <p:txBody>
          <a:bodyPr wrap="square" lIns="0" tIns="0" rIns="0" bIns="0" anchor="t">
            <a:spAutoFit/>
          </a:bodyPr>
          <a:lstStyle/>
          <a:p>
            <a:pPr algn="l"/>
            <a:r>
              <a:rPr sz="2000" b="1" i="0">
                <a:solidFill>
                  <a:srgbClr val="0F172A"/>
                </a:solidFill>
                <a:latin typeface="Calibri"/>
              </a:rPr>
              <a:t>Cinq etapes en direct</a:t>
            </a:r>
          </a:p>
        </p:txBody>
      </p:sp>
      <p:sp>
        <p:nvSpPr>
          <p:cNvPr id="11" name="TextBox 10"/>
          <p:cNvSpPr txBox="1"/>
          <p:nvPr/>
        </p:nvSpPr>
        <p:spPr>
          <a:xfrm>
            <a:off x="868680" y="2514600"/>
            <a:ext cx="457200" cy="411480"/>
          </a:xfrm>
          <a:prstGeom prst="rect">
            <a:avLst/>
          </a:prstGeom>
          <a:noFill/>
        </p:spPr>
        <p:txBody>
          <a:bodyPr wrap="square" lIns="0" tIns="0" rIns="0" bIns="0" anchor="t">
            <a:spAutoFit/>
          </a:bodyPr>
          <a:lstStyle/>
          <a:p>
            <a:pPr algn="l"/>
            <a:r>
              <a:rPr sz="2200" b="1" i="0">
                <a:solidFill>
                  <a:srgbClr val="F59E0B"/>
                </a:solidFill>
                <a:latin typeface="Consolas"/>
              </a:rPr>
              <a:t>1</a:t>
            </a:r>
          </a:p>
        </p:txBody>
      </p:sp>
      <p:sp>
        <p:nvSpPr>
          <p:cNvPr id="12" name="TextBox 11"/>
          <p:cNvSpPr txBox="1"/>
          <p:nvPr/>
        </p:nvSpPr>
        <p:spPr>
          <a:xfrm>
            <a:off x="1417320" y="2514600"/>
            <a:ext cx="1554480" cy="411480"/>
          </a:xfrm>
          <a:prstGeom prst="rect">
            <a:avLst/>
          </a:prstGeom>
          <a:noFill/>
        </p:spPr>
        <p:txBody>
          <a:bodyPr wrap="square" lIns="0" tIns="0" rIns="0" bIns="0" anchor="t">
            <a:spAutoFit/>
          </a:bodyPr>
          <a:lstStyle/>
          <a:p>
            <a:pPr algn="l"/>
            <a:r>
              <a:rPr sz="1400" b="1" i="0">
                <a:solidFill>
                  <a:srgbClr val="065A82"/>
                </a:solidFill>
                <a:latin typeface="Consolas"/>
              </a:rPr>
              <a:t>Reset</a:t>
            </a:r>
          </a:p>
        </p:txBody>
      </p:sp>
      <p:sp>
        <p:nvSpPr>
          <p:cNvPr id="13" name="TextBox 12"/>
          <p:cNvSpPr txBox="1"/>
          <p:nvPr/>
        </p:nvSpPr>
        <p:spPr>
          <a:xfrm>
            <a:off x="3017520" y="2514600"/>
            <a:ext cx="3108960" cy="640080"/>
          </a:xfrm>
          <a:prstGeom prst="rect">
            <a:avLst/>
          </a:prstGeom>
          <a:noFill/>
        </p:spPr>
        <p:txBody>
          <a:bodyPr wrap="square" lIns="0" tIns="0" rIns="0" bIns="0" anchor="t">
            <a:spAutoFit/>
          </a:bodyPr>
          <a:lstStyle/>
          <a:p>
            <a:pPr algn="l"/>
            <a:r>
              <a:rPr sz="1300" b="0" i="0">
                <a:solidFill>
                  <a:srgbClr val="0F172A"/>
                </a:solidFill>
                <a:latin typeface="Calibri"/>
              </a:rPr>
              <a:t>Banniere de boot + 3 capteurs prets.</a:t>
            </a:r>
          </a:p>
        </p:txBody>
      </p:sp>
      <p:sp>
        <p:nvSpPr>
          <p:cNvPr id="14" name="TextBox 13"/>
          <p:cNvSpPr txBox="1"/>
          <p:nvPr/>
        </p:nvSpPr>
        <p:spPr>
          <a:xfrm>
            <a:off x="868680" y="3227832"/>
            <a:ext cx="457200" cy="411480"/>
          </a:xfrm>
          <a:prstGeom prst="rect">
            <a:avLst/>
          </a:prstGeom>
          <a:noFill/>
        </p:spPr>
        <p:txBody>
          <a:bodyPr wrap="square" lIns="0" tIns="0" rIns="0" bIns="0" anchor="t">
            <a:spAutoFit/>
          </a:bodyPr>
          <a:lstStyle/>
          <a:p>
            <a:pPr algn="l"/>
            <a:r>
              <a:rPr sz="2200" b="1" i="0">
                <a:solidFill>
                  <a:srgbClr val="F59E0B"/>
                </a:solidFill>
                <a:latin typeface="Consolas"/>
              </a:rPr>
              <a:t>2</a:t>
            </a:r>
          </a:p>
        </p:txBody>
      </p:sp>
      <p:sp>
        <p:nvSpPr>
          <p:cNvPr id="15" name="TextBox 14"/>
          <p:cNvSpPr txBox="1"/>
          <p:nvPr/>
        </p:nvSpPr>
        <p:spPr>
          <a:xfrm>
            <a:off x="1417320" y="3227832"/>
            <a:ext cx="1554480" cy="411480"/>
          </a:xfrm>
          <a:prstGeom prst="rect">
            <a:avLst/>
          </a:prstGeom>
          <a:noFill/>
        </p:spPr>
        <p:txBody>
          <a:bodyPr wrap="square" lIns="0" tIns="0" rIns="0" bIns="0" anchor="t">
            <a:spAutoFit/>
          </a:bodyPr>
          <a:lstStyle/>
          <a:p>
            <a:pPr algn="l"/>
            <a:r>
              <a:rPr sz="1400" b="1" i="0">
                <a:solidFill>
                  <a:srgbClr val="065A82"/>
                </a:solidFill>
                <a:latin typeface="Consolas"/>
              </a:rPr>
              <a:t>Saisie ville</a:t>
            </a:r>
          </a:p>
        </p:txBody>
      </p:sp>
      <p:sp>
        <p:nvSpPr>
          <p:cNvPr id="16" name="TextBox 15"/>
          <p:cNvSpPr txBox="1"/>
          <p:nvPr/>
        </p:nvSpPr>
        <p:spPr>
          <a:xfrm>
            <a:off x="3017520" y="3227832"/>
            <a:ext cx="3108960" cy="640080"/>
          </a:xfrm>
          <a:prstGeom prst="rect">
            <a:avLst/>
          </a:prstGeom>
          <a:noFill/>
        </p:spPr>
        <p:txBody>
          <a:bodyPr wrap="square" lIns="0" tIns="0" rIns="0" bIns="0" anchor="t">
            <a:spAutoFit/>
          </a:bodyPr>
          <a:lstStyle/>
          <a:p>
            <a:pPr algn="l"/>
            <a:r>
              <a:rPr sz="1300" b="0" i="0">
                <a:solidFill>
                  <a:srgbClr val="0F172A"/>
                </a:solidFill>
                <a:latin typeface="Calibri"/>
              </a:rPr>
              <a:t>Tape 'Marseille' sur le terminal, validation Entree.</a:t>
            </a:r>
          </a:p>
        </p:txBody>
      </p:sp>
      <p:sp>
        <p:nvSpPr>
          <p:cNvPr id="17" name="TextBox 16"/>
          <p:cNvSpPr txBox="1"/>
          <p:nvPr/>
        </p:nvSpPr>
        <p:spPr>
          <a:xfrm>
            <a:off x="868680" y="3941064"/>
            <a:ext cx="457200" cy="411480"/>
          </a:xfrm>
          <a:prstGeom prst="rect">
            <a:avLst/>
          </a:prstGeom>
          <a:noFill/>
        </p:spPr>
        <p:txBody>
          <a:bodyPr wrap="square" lIns="0" tIns="0" rIns="0" bIns="0" anchor="t">
            <a:spAutoFit/>
          </a:bodyPr>
          <a:lstStyle/>
          <a:p>
            <a:pPr algn="l"/>
            <a:r>
              <a:rPr sz="2200" b="1" i="0">
                <a:solidFill>
                  <a:srgbClr val="F59E0B"/>
                </a:solidFill>
                <a:latin typeface="Consolas"/>
              </a:rPr>
              <a:t>3</a:t>
            </a:r>
          </a:p>
        </p:txBody>
      </p:sp>
      <p:sp>
        <p:nvSpPr>
          <p:cNvPr id="18" name="TextBox 17"/>
          <p:cNvSpPr txBox="1"/>
          <p:nvPr/>
        </p:nvSpPr>
        <p:spPr>
          <a:xfrm>
            <a:off x="1417320" y="3941064"/>
            <a:ext cx="1554480" cy="411480"/>
          </a:xfrm>
          <a:prstGeom prst="rect">
            <a:avLst/>
          </a:prstGeom>
          <a:noFill/>
        </p:spPr>
        <p:txBody>
          <a:bodyPr wrap="square" lIns="0" tIns="0" rIns="0" bIns="0" anchor="t">
            <a:spAutoFit/>
          </a:bodyPr>
          <a:lstStyle/>
          <a:p>
            <a:pPr algn="l"/>
            <a:r>
              <a:rPr sz="1400" b="1" i="0">
                <a:solidFill>
                  <a:srgbClr val="065A82"/>
                </a:solidFill>
                <a:latin typeface="Consolas"/>
              </a:rPr>
              <a:t>Mesure live</a:t>
            </a:r>
          </a:p>
        </p:txBody>
      </p:sp>
      <p:sp>
        <p:nvSpPr>
          <p:cNvPr id="19" name="TextBox 18"/>
          <p:cNvSpPr txBox="1"/>
          <p:nvPr/>
        </p:nvSpPr>
        <p:spPr>
          <a:xfrm>
            <a:off x="3017520" y="3941064"/>
            <a:ext cx="3108960" cy="640080"/>
          </a:xfrm>
          <a:prstGeom prst="rect">
            <a:avLst/>
          </a:prstGeom>
          <a:noFill/>
        </p:spPr>
        <p:txBody>
          <a:bodyPr wrap="square" lIns="0" tIns="0" rIns="0" bIns="0" anchor="t">
            <a:spAutoFit/>
          </a:bodyPr>
          <a:lstStyle/>
          <a:p>
            <a:pPr algn="l"/>
            <a:r>
              <a:rPr sz="1300" b="0" i="0">
                <a:solidFill>
                  <a:srgbClr val="0F172A"/>
                </a:solidFill>
                <a:latin typeface="Calibri"/>
              </a:rPr>
              <a:t>Une ligne METEO par seconde, heartbeat LD2 a 1 Hz.</a:t>
            </a:r>
          </a:p>
        </p:txBody>
      </p:sp>
      <p:sp>
        <p:nvSpPr>
          <p:cNvPr id="20" name="TextBox 19"/>
          <p:cNvSpPr txBox="1"/>
          <p:nvPr/>
        </p:nvSpPr>
        <p:spPr>
          <a:xfrm>
            <a:off x="868680" y="4654296"/>
            <a:ext cx="457200" cy="411480"/>
          </a:xfrm>
          <a:prstGeom prst="rect">
            <a:avLst/>
          </a:prstGeom>
          <a:noFill/>
        </p:spPr>
        <p:txBody>
          <a:bodyPr wrap="square" lIns="0" tIns="0" rIns="0" bIns="0" anchor="t">
            <a:spAutoFit/>
          </a:bodyPr>
          <a:lstStyle/>
          <a:p>
            <a:pPr algn="l"/>
            <a:r>
              <a:rPr sz="2200" b="1" i="0">
                <a:solidFill>
                  <a:srgbClr val="F59E0B"/>
                </a:solidFill>
                <a:latin typeface="Consolas"/>
              </a:rPr>
              <a:t>4</a:t>
            </a:r>
          </a:p>
        </p:txBody>
      </p:sp>
      <p:sp>
        <p:nvSpPr>
          <p:cNvPr id="21" name="TextBox 20"/>
          <p:cNvSpPr txBox="1"/>
          <p:nvPr/>
        </p:nvSpPr>
        <p:spPr>
          <a:xfrm>
            <a:off x="1417320" y="4654296"/>
            <a:ext cx="1554480" cy="411480"/>
          </a:xfrm>
          <a:prstGeom prst="rect">
            <a:avLst/>
          </a:prstGeom>
          <a:noFill/>
        </p:spPr>
        <p:txBody>
          <a:bodyPr wrap="square" lIns="0" tIns="0" rIns="0" bIns="0" anchor="t">
            <a:spAutoFit/>
          </a:bodyPr>
          <a:lstStyle/>
          <a:p>
            <a:pPr algn="l"/>
            <a:r>
              <a:rPr sz="1400" b="1" i="0">
                <a:solidFill>
                  <a:srgbClr val="065A82"/>
                </a:solidFill>
                <a:latin typeface="Consolas"/>
              </a:rPr>
              <a:t>Variation</a:t>
            </a:r>
          </a:p>
        </p:txBody>
      </p:sp>
      <p:sp>
        <p:nvSpPr>
          <p:cNvPr id="22" name="TextBox 21"/>
          <p:cNvSpPr txBox="1"/>
          <p:nvPr/>
        </p:nvSpPr>
        <p:spPr>
          <a:xfrm>
            <a:off x="3017520" y="4654296"/>
            <a:ext cx="3108960" cy="640080"/>
          </a:xfrm>
          <a:prstGeom prst="rect">
            <a:avLst/>
          </a:prstGeom>
          <a:noFill/>
        </p:spPr>
        <p:txBody>
          <a:bodyPr wrap="square" lIns="0" tIns="0" rIns="0" bIns="0" anchor="t">
            <a:spAutoFit/>
          </a:bodyPr>
          <a:lstStyle/>
          <a:p>
            <a:pPr algn="l"/>
            <a:r>
              <a:rPr sz="1300" b="0" i="0">
                <a:solidFill>
                  <a:srgbClr val="0F172A"/>
                </a:solidFill>
                <a:latin typeface="Calibri"/>
              </a:rPr>
              <a:t>Souffler sur le shield - humidite + temperature montent.</a:t>
            </a:r>
          </a:p>
        </p:txBody>
      </p:sp>
      <p:sp>
        <p:nvSpPr>
          <p:cNvPr id="23" name="TextBox 22"/>
          <p:cNvSpPr txBox="1"/>
          <p:nvPr/>
        </p:nvSpPr>
        <p:spPr>
          <a:xfrm>
            <a:off x="868680" y="5367528"/>
            <a:ext cx="457200" cy="411480"/>
          </a:xfrm>
          <a:prstGeom prst="rect">
            <a:avLst/>
          </a:prstGeom>
          <a:noFill/>
        </p:spPr>
        <p:txBody>
          <a:bodyPr wrap="square" lIns="0" tIns="0" rIns="0" bIns="0" anchor="t">
            <a:spAutoFit/>
          </a:bodyPr>
          <a:lstStyle/>
          <a:p>
            <a:pPr algn="l"/>
            <a:r>
              <a:rPr sz="2200" b="1" i="0">
                <a:solidFill>
                  <a:srgbClr val="F59E0B"/>
                </a:solidFill>
                <a:latin typeface="Consolas"/>
              </a:rPr>
              <a:t>5</a:t>
            </a:r>
          </a:p>
        </p:txBody>
      </p:sp>
      <p:sp>
        <p:nvSpPr>
          <p:cNvPr id="24" name="TextBox 23"/>
          <p:cNvSpPr txBox="1"/>
          <p:nvPr/>
        </p:nvSpPr>
        <p:spPr>
          <a:xfrm>
            <a:off x="1417320" y="5367528"/>
            <a:ext cx="1554480" cy="411480"/>
          </a:xfrm>
          <a:prstGeom prst="rect">
            <a:avLst/>
          </a:prstGeom>
          <a:noFill/>
        </p:spPr>
        <p:txBody>
          <a:bodyPr wrap="square" lIns="0" tIns="0" rIns="0" bIns="0" anchor="t">
            <a:spAutoFit/>
          </a:bodyPr>
          <a:lstStyle/>
          <a:p>
            <a:pPr algn="l"/>
            <a:r>
              <a:rPr sz="1400" b="1" i="0">
                <a:solidFill>
                  <a:srgbClr val="065A82"/>
                </a:solidFill>
                <a:latin typeface="Consolas"/>
              </a:rPr>
              <a:t>Changer</a:t>
            </a:r>
          </a:p>
        </p:txBody>
      </p:sp>
      <p:sp>
        <p:nvSpPr>
          <p:cNvPr id="25" name="TextBox 24"/>
          <p:cNvSpPr txBox="1"/>
          <p:nvPr/>
        </p:nvSpPr>
        <p:spPr>
          <a:xfrm>
            <a:off x="3017520" y="5367528"/>
            <a:ext cx="3108960" cy="640080"/>
          </a:xfrm>
          <a:prstGeom prst="rect">
            <a:avLst/>
          </a:prstGeom>
          <a:noFill/>
        </p:spPr>
        <p:txBody>
          <a:bodyPr wrap="square" lIns="0" tIns="0" rIns="0" bIns="0" anchor="t">
            <a:spAutoFit/>
          </a:bodyPr>
          <a:lstStyle/>
          <a:p>
            <a:pPr algn="l"/>
            <a:r>
              <a:rPr sz="1300" b="0" i="0">
                <a:solidFill>
                  <a:srgbClr val="0F172A"/>
                </a:solidFill>
                <a:latin typeface="Calibri"/>
              </a:rPr>
              <a:t>Appui B1 -&gt; nouvelle saisie ('Lyon'), la ville change.</a:t>
            </a:r>
          </a:p>
        </p:txBody>
      </p:sp>
      <p:sp>
        <p:nvSpPr>
          <p:cNvPr id="26" name="Rounded Rectangle 25"/>
          <p:cNvSpPr/>
          <p:nvPr/>
        </p:nvSpPr>
        <p:spPr>
          <a:xfrm>
            <a:off x="6583680" y="1417320"/>
            <a:ext cx="5074920" cy="4754880"/>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1600200"/>
            <a:ext cx="4526280" cy="365760"/>
          </a:xfrm>
          <a:prstGeom prst="rect">
            <a:avLst/>
          </a:prstGeom>
          <a:noFill/>
        </p:spPr>
        <p:txBody>
          <a:bodyPr wrap="square" lIns="0" tIns="0" rIns="0" bIns="0" anchor="t">
            <a:spAutoFit/>
          </a:bodyPr>
          <a:lstStyle/>
          <a:p>
            <a:pPr algn="l"/>
            <a:r>
              <a:rPr sz="1100" b="1" i="0">
                <a:solidFill>
                  <a:srgbClr val="F59E0B"/>
                </a:solidFill>
                <a:latin typeface="Consolas"/>
              </a:rPr>
              <a:t>TERMINAL  -  COM3  -  115200 8N1</a:t>
            </a:r>
          </a:p>
        </p:txBody>
      </p:sp>
      <p:sp>
        <p:nvSpPr>
          <p:cNvPr id="28" name="TextBox 27"/>
          <p:cNvSpPr txBox="1"/>
          <p:nvPr/>
        </p:nvSpPr>
        <p:spPr>
          <a:xfrm>
            <a:off x="6858000" y="2011680"/>
            <a:ext cx="4526280" cy="256032"/>
          </a:xfrm>
          <a:prstGeom prst="rect">
            <a:avLst/>
          </a:prstGeom>
          <a:noFill/>
        </p:spPr>
        <p:txBody>
          <a:bodyPr wrap="square" lIns="0" tIns="0" rIns="0" bIns="0" anchor="t">
            <a:spAutoFit/>
          </a:bodyPr>
          <a:lstStyle/>
          <a:p>
            <a:pPr algn="l"/>
            <a:r>
              <a:rPr sz="1100" b="0" i="0">
                <a:solidFill>
                  <a:srgbClr val="FFFFFF"/>
                </a:solidFill>
                <a:latin typeface="Consolas"/>
              </a:rPr>
              <a:t>=== STM32 METEO STATION boot ===</a:t>
            </a:r>
          </a:p>
        </p:txBody>
      </p:sp>
      <p:sp>
        <p:nvSpPr>
          <p:cNvPr id="29" name="TextBox 28"/>
          <p:cNvSpPr txBox="1"/>
          <p:nvPr/>
        </p:nvSpPr>
        <p:spPr>
          <a:xfrm>
            <a:off x="6858000" y="2286000"/>
            <a:ext cx="4526280" cy="256032"/>
          </a:xfrm>
          <a:prstGeom prst="rect">
            <a:avLst/>
          </a:prstGeom>
          <a:noFill/>
        </p:spPr>
        <p:txBody>
          <a:bodyPr wrap="square" lIns="0" tIns="0" rIns="0" bIns="0" anchor="t">
            <a:spAutoFit/>
          </a:bodyPr>
          <a:lstStyle/>
          <a:p>
            <a:pPr algn="l"/>
            <a:r>
              <a:rPr sz="1100" b="0" i="0">
                <a:solidFill>
                  <a:srgbClr val="CBD5E1"/>
                </a:solidFill>
                <a:latin typeface="Consolas"/>
              </a:rPr>
              <a:t>Board: NUCLEO-L152RE + X-NUCLEO-IKS01A3</a:t>
            </a:r>
          </a:p>
        </p:txBody>
      </p:sp>
      <p:sp>
        <p:nvSpPr>
          <p:cNvPr id="30" name="TextBox 29"/>
          <p:cNvSpPr txBox="1"/>
          <p:nvPr/>
        </p:nvSpPr>
        <p:spPr>
          <a:xfrm>
            <a:off x="6858000" y="2560320"/>
            <a:ext cx="4526280" cy="256032"/>
          </a:xfrm>
          <a:prstGeom prst="rect">
            <a:avLst/>
          </a:prstGeom>
          <a:noFill/>
        </p:spPr>
        <p:txBody>
          <a:bodyPr wrap="square" lIns="0" tIns="0" rIns="0" bIns="0" anchor="t">
            <a:spAutoFit/>
          </a:bodyPr>
          <a:lstStyle/>
          <a:p>
            <a:pPr algn="l"/>
            <a:r>
              <a:rPr sz="1100" b="0" i="0">
                <a:solidFill>
                  <a:srgbClr val="10B981"/>
                </a:solidFill>
                <a:latin typeface="Consolas"/>
              </a:rPr>
              <a:t>Capteurs HTS221 + LPS22HH + STTS751 prets.</a:t>
            </a:r>
          </a:p>
        </p:txBody>
      </p:sp>
      <p:sp>
        <p:nvSpPr>
          <p:cNvPr id="31" name="TextBox 30"/>
          <p:cNvSpPr txBox="1"/>
          <p:nvPr/>
        </p:nvSpPr>
        <p:spPr>
          <a:xfrm>
            <a:off x="6858000" y="2834640"/>
            <a:ext cx="4526280" cy="256032"/>
          </a:xfrm>
          <a:prstGeom prst="rect">
            <a:avLst/>
          </a:prstGeom>
          <a:noFill/>
        </p:spPr>
        <p:txBody>
          <a:bodyPr wrap="square" lIns="0" tIns="0" rIns="0" bIns="0" anchor="t">
            <a:spAutoFit/>
          </a:bodyPr>
          <a:lstStyle/>
          <a:p>
            <a:pPr algn="l"/>
            <a:r>
              <a:rPr sz="1100" b="0" i="0">
                <a:solidFill>
                  <a:srgbClr val="FFFFFF"/>
                </a:solidFill>
                <a:latin typeface="Consolas"/>
              </a:rPr>
              <a:t> </a:t>
            </a:r>
          </a:p>
        </p:txBody>
      </p:sp>
      <p:sp>
        <p:nvSpPr>
          <p:cNvPr id="32" name="TextBox 31"/>
          <p:cNvSpPr txBox="1"/>
          <p:nvPr/>
        </p:nvSpPr>
        <p:spPr>
          <a:xfrm>
            <a:off x="6858000" y="3108960"/>
            <a:ext cx="4526280" cy="256032"/>
          </a:xfrm>
          <a:prstGeom prst="rect">
            <a:avLst/>
          </a:prstGeom>
          <a:noFill/>
        </p:spPr>
        <p:txBody>
          <a:bodyPr wrap="square" lIns="0" tIns="0" rIns="0" bIns="0" anchor="t">
            <a:spAutoFit/>
          </a:bodyPr>
          <a:lstStyle/>
          <a:p>
            <a:pPr algn="l"/>
            <a:r>
              <a:rPr sz="1100" b="0" i="0">
                <a:solidFill>
                  <a:srgbClr val="F59E0B"/>
                </a:solidFill>
                <a:latin typeface="Consolas"/>
              </a:rPr>
              <a:t>Entrez la ville : Marseille</a:t>
            </a:r>
          </a:p>
        </p:txBody>
      </p:sp>
      <p:sp>
        <p:nvSpPr>
          <p:cNvPr id="33" name="TextBox 32"/>
          <p:cNvSpPr txBox="1"/>
          <p:nvPr/>
        </p:nvSpPr>
        <p:spPr>
          <a:xfrm>
            <a:off x="6858000" y="3383280"/>
            <a:ext cx="4526280" cy="256032"/>
          </a:xfrm>
          <a:prstGeom prst="rect">
            <a:avLst/>
          </a:prstGeom>
          <a:noFill/>
        </p:spPr>
        <p:txBody>
          <a:bodyPr wrap="square" lIns="0" tIns="0" rIns="0" bIns="0" anchor="t">
            <a:spAutoFit/>
          </a:bodyPr>
          <a:lstStyle/>
          <a:p>
            <a:pPr algn="l"/>
            <a:r>
              <a:rPr sz="1100" b="0" i="0">
                <a:solidFill>
                  <a:srgbClr val="10B981"/>
                </a:solidFill>
                <a:latin typeface="Consolas"/>
              </a:rPr>
              <a:t>Ville selectionnee : Marseille</a:t>
            </a:r>
          </a:p>
        </p:txBody>
      </p:sp>
      <p:sp>
        <p:nvSpPr>
          <p:cNvPr id="34" name="TextBox 33"/>
          <p:cNvSpPr txBox="1"/>
          <p:nvPr/>
        </p:nvSpPr>
        <p:spPr>
          <a:xfrm>
            <a:off x="6858000" y="3657600"/>
            <a:ext cx="4526280" cy="256032"/>
          </a:xfrm>
          <a:prstGeom prst="rect">
            <a:avLst/>
          </a:prstGeom>
          <a:noFill/>
        </p:spPr>
        <p:txBody>
          <a:bodyPr wrap="square" lIns="0" tIns="0" rIns="0" bIns="0" anchor="t">
            <a:spAutoFit/>
          </a:bodyPr>
          <a:lstStyle/>
          <a:p>
            <a:pPr algn="l"/>
            <a:r>
              <a:rPr sz="1100" b="0" i="0">
                <a:solidFill>
                  <a:srgbClr val="FFFFFF"/>
                </a:solidFill>
                <a:latin typeface="Consolas"/>
              </a:rPr>
              <a:t>METEO Ville=Marseille T=22.45 C RH=47.80 % P=1015.2 hPa</a:t>
            </a:r>
          </a:p>
        </p:txBody>
      </p:sp>
      <p:sp>
        <p:nvSpPr>
          <p:cNvPr id="35" name="TextBox 34"/>
          <p:cNvSpPr txBox="1"/>
          <p:nvPr/>
        </p:nvSpPr>
        <p:spPr>
          <a:xfrm>
            <a:off x="6858000" y="3931920"/>
            <a:ext cx="4526280" cy="256032"/>
          </a:xfrm>
          <a:prstGeom prst="rect">
            <a:avLst/>
          </a:prstGeom>
          <a:noFill/>
        </p:spPr>
        <p:txBody>
          <a:bodyPr wrap="square" lIns="0" tIns="0" rIns="0" bIns="0" anchor="t">
            <a:spAutoFit/>
          </a:bodyPr>
          <a:lstStyle/>
          <a:p>
            <a:pPr algn="l"/>
            <a:r>
              <a:rPr sz="1100" b="0" i="0">
                <a:solidFill>
                  <a:srgbClr val="FFFFFF"/>
                </a:solidFill>
                <a:latin typeface="Consolas"/>
              </a:rPr>
              <a:t>METEO Ville=Marseille T=22.47 C RH=47.92 % P=1015.2 hPa</a:t>
            </a:r>
          </a:p>
        </p:txBody>
      </p:sp>
      <p:sp>
        <p:nvSpPr>
          <p:cNvPr id="36" name="TextBox 35"/>
          <p:cNvSpPr txBox="1"/>
          <p:nvPr/>
        </p:nvSpPr>
        <p:spPr>
          <a:xfrm>
            <a:off x="6858000" y="4206240"/>
            <a:ext cx="4526280" cy="256032"/>
          </a:xfrm>
          <a:prstGeom prst="rect">
            <a:avLst/>
          </a:prstGeom>
          <a:noFill/>
        </p:spPr>
        <p:txBody>
          <a:bodyPr wrap="square" lIns="0" tIns="0" rIns="0" bIns="0" anchor="t">
            <a:spAutoFit/>
          </a:bodyPr>
          <a:lstStyle/>
          <a:p>
            <a:pPr algn="l"/>
            <a:r>
              <a:rPr sz="1100" b="0" i="0">
                <a:solidFill>
                  <a:srgbClr val="FFFFFF"/>
                </a:solidFill>
                <a:latin typeface="Consolas"/>
              </a:rPr>
              <a:t>METEO Ville=Marseille T=22.51 C RH=48.10 % P=1015.3 hPa</a:t>
            </a:r>
          </a:p>
        </p:txBody>
      </p:sp>
      <p:sp>
        <p:nvSpPr>
          <p:cNvPr id="37" name="TextBox 36"/>
          <p:cNvSpPr txBox="1"/>
          <p:nvPr/>
        </p:nvSpPr>
        <p:spPr>
          <a:xfrm>
            <a:off x="6858000" y="4480560"/>
            <a:ext cx="4526280" cy="256032"/>
          </a:xfrm>
          <a:prstGeom prst="rect">
            <a:avLst/>
          </a:prstGeom>
          <a:noFill/>
        </p:spPr>
        <p:txBody>
          <a:bodyPr wrap="square" lIns="0" tIns="0" rIns="0" bIns="0" anchor="t">
            <a:spAutoFit/>
          </a:bodyPr>
          <a:lstStyle/>
          <a:p>
            <a:pPr algn="l"/>
            <a:r>
              <a:rPr sz="1100" b="0" i="0">
                <a:solidFill>
                  <a:srgbClr val="FFFFFF"/>
                </a:solidFill>
                <a:latin typeface="Consolas"/>
              </a:rPr>
              <a:t> </a:t>
            </a:r>
          </a:p>
        </p:txBody>
      </p:sp>
      <p:sp>
        <p:nvSpPr>
          <p:cNvPr id="38" name="TextBox 37"/>
          <p:cNvSpPr txBox="1"/>
          <p:nvPr/>
        </p:nvSpPr>
        <p:spPr>
          <a:xfrm>
            <a:off x="6858000" y="4754880"/>
            <a:ext cx="4526280" cy="256032"/>
          </a:xfrm>
          <a:prstGeom prst="rect">
            <a:avLst/>
          </a:prstGeom>
          <a:noFill/>
        </p:spPr>
        <p:txBody>
          <a:bodyPr wrap="square" lIns="0" tIns="0" rIns="0" bIns="0" anchor="t">
            <a:spAutoFit/>
          </a:bodyPr>
          <a:lstStyle/>
          <a:p>
            <a:pPr algn="l"/>
            <a:r>
              <a:rPr sz="1100" b="0" i="0">
                <a:solidFill>
                  <a:srgbClr val="F59E0B"/>
                </a:solidFill>
                <a:latin typeface="Consolas"/>
              </a:rPr>
              <a:t>Entrez la ville : Lyon</a:t>
            </a:r>
          </a:p>
        </p:txBody>
      </p:sp>
      <p:sp>
        <p:nvSpPr>
          <p:cNvPr id="39" name="TextBox 38"/>
          <p:cNvSpPr txBox="1"/>
          <p:nvPr/>
        </p:nvSpPr>
        <p:spPr>
          <a:xfrm>
            <a:off x="6858000" y="5029200"/>
            <a:ext cx="4526280" cy="256032"/>
          </a:xfrm>
          <a:prstGeom prst="rect">
            <a:avLst/>
          </a:prstGeom>
          <a:noFill/>
        </p:spPr>
        <p:txBody>
          <a:bodyPr wrap="square" lIns="0" tIns="0" rIns="0" bIns="0" anchor="t">
            <a:spAutoFit/>
          </a:bodyPr>
          <a:lstStyle/>
          <a:p>
            <a:pPr algn="l"/>
            <a:r>
              <a:rPr sz="1100" b="0" i="0">
                <a:solidFill>
                  <a:srgbClr val="10B981"/>
                </a:solidFill>
                <a:latin typeface="Consolas"/>
              </a:rPr>
              <a:t>Ville selectionnee : Lyon</a:t>
            </a:r>
          </a:p>
        </p:txBody>
      </p:sp>
      <p:sp>
        <p:nvSpPr>
          <p:cNvPr id="40" name="TextBox 39"/>
          <p:cNvSpPr txBox="1"/>
          <p:nvPr/>
        </p:nvSpPr>
        <p:spPr>
          <a:xfrm>
            <a:off x="6858000" y="5303520"/>
            <a:ext cx="4526280" cy="256032"/>
          </a:xfrm>
          <a:prstGeom prst="rect">
            <a:avLst/>
          </a:prstGeom>
          <a:noFill/>
        </p:spPr>
        <p:txBody>
          <a:bodyPr wrap="square" lIns="0" tIns="0" rIns="0" bIns="0" anchor="t">
            <a:spAutoFit/>
          </a:bodyPr>
          <a:lstStyle/>
          <a:p>
            <a:pPr algn="l"/>
            <a:r>
              <a:rPr sz="1100" b="0" i="0">
                <a:solidFill>
                  <a:srgbClr val="FFFFFF"/>
                </a:solidFill>
                <a:latin typeface="Consolas"/>
              </a:rPr>
              <a:t>METEO Ville=Lyon T=22.53 C RH=48.15 % P=1015.3 hPa</a:t>
            </a:r>
          </a:p>
        </p:txBody>
      </p:sp>
      <p:sp>
        <p:nvSpPr>
          <p:cNvPr id="41" name="TextBox 40"/>
          <p:cNvSpPr txBox="1"/>
          <p:nvPr/>
        </p:nvSpPr>
        <p:spPr>
          <a:xfrm>
            <a:off x="548640" y="6446520"/>
            <a:ext cx="7315200" cy="320040"/>
          </a:xfrm>
          <a:prstGeom prst="rect">
            <a:avLst/>
          </a:prstGeom>
          <a:noFill/>
        </p:spPr>
        <p:txBody>
          <a:bodyPr wrap="square" lIns="0" tIns="0" rIns="0" bIns="0" anchor="t">
            <a:spAutoFit/>
          </a:bodyPr>
          <a:lstStyle/>
          <a:p>
            <a:pPr algn="l"/>
            <a:r>
              <a:rPr sz="1000" b="0" i="1">
                <a:solidFill>
                  <a:srgbClr val="64748B"/>
                </a:solidFill>
                <a:latin typeface="Calibri"/>
              </a:rPr>
              <a:t>STM32 Meteo Station - NUCLEO-L152RE + X-NUCLEO-IKS01A3 - P23MRS 2026</a:t>
            </a:r>
          </a:p>
        </p:txBody>
      </p:sp>
      <p:sp>
        <p:nvSpPr>
          <p:cNvPr id="42" name="TextBox 41"/>
          <p:cNvSpPr txBox="1"/>
          <p:nvPr/>
        </p:nvSpPr>
        <p:spPr>
          <a:xfrm>
            <a:off x="11338560" y="6446520"/>
            <a:ext cx="457200" cy="320040"/>
          </a:xfrm>
          <a:prstGeom prst="rect">
            <a:avLst/>
          </a:prstGeom>
          <a:noFill/>
        </p:spPr>
        <p:txBody>
          <a:bodyPr wrap="square" lIns="0" tIns="0" rIns="0" bIns="0" anchor="t">
            <a:spAutoFit/>
          </a:bodyPr>
          <a:lstStyle/>
          <a:p>
            <a:pPr algn="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828800" cy="457200"/>
          </a:xfrm>
          <a:prstGeom prst="rect">
            <a:avLst/>
          </a:prstGeom>
          <a:noFill/>
        </p:spPr>
        <p:txBody>
          <a:bodyPr wrap="square" lIns="0" tIns="0" rIns="0" bIns="0" anchor="t">
            <a:spAutoFit/>
          </a:bodyPr>
          <a:lstStyle/>
          <a:p>
            <a:pPr algn="l"/>
            <a:r>
              <a:rPr sz="1400" b="1" i="0">
                <a:solidFill>
                  <a:srgbClr val="F59E0B"/>
                </a:solidFill>
                <a:latin typeface="Consolas"/>
              </a:rPr>
              <a:t>06 / 06   CONCLUSION</a:t>
            </a:r>
          </a:p>
        </p:txBody>
      </p:sp>
      <p:sp>
        <p:nvSpPr>
          <p:cNvPr id="6" name="TextBox 5"/>
          <p:cNvSpPr txBox="1"/>
          <p:nvPr/>
        </p:nvSpPr>
        <p:spPr>
          <a:xfrm>
            <a:off x="640080" y="960120"/>
            <a:ext cx="10972800" cy="640080"/>
          </a:xfrm>
          <a:prstGeom prst="rect">
            <a:avLst/>
          </a:prstGeom>
          <a:noFill/>
        </p:spPr>
        <p:txBody>
          <a:bodyPr wrap="square" lIns="0" tIns="0" rIns="0" bIns="0" anchor="t">
            <a:spAutoFit/>
          </a:bodyPr>
          <a:lstStyle/>
          <a:p>
            <a:pPr algn="l"/>
            <a:r>
              <a:rPr sz="3200" b="1" i="0">
                <a:solidFill>
                  <a:srgbClr val="FFFFFF"/>
                </a:solidFill>
                <a:latin typeface="Calibri"/>
              </a:rPr>
              <a:t>Bilan et perspectives</a:t>
            </a:r>
          </a:p>
        </p:txBody>
      </p:sp>
      <p:sp>
        <p:nvSpPr>
          <p:cNvPr id="7" name="Rounded Rectangle 6"/>
          <p:cNvSpPr/>
          <p:nvPr/>
        </p:nvSpPr>
        <p:spPr>
          <a:xfrm>
            <a:off x="640080" y="2011680"/>
            <a:ext cx="5486400" cy="402336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194560"/>
            <a:ext cx="4983480" cy="365760"/>
          </a:xfrm>
          <a:prstGeom prst="rect">
            <a:avLst/>
          </a:prstGeom>
          <a:noFill/>
        </p:spPr>
        <p:txBody>
          <a:bodyPr wrap="square" lIns="0" tIns="0" rIns="0" bIns="0" anchor="t">
            <a:spAutoFit/>
          </a:bodyPr>
          <a:lstStyle/>
          <a:p>
            <a:pPr algn="l"/>
            <a:r>
              <a:rPr sz="1100" b="1" i="0">
                <a:solidFill>
                  <a:srgbClr val="F59E0B"/>
                </a:solidFill>
                <a:latin typeface="Consolas"/>
              </a:rPr>
              <a:t>EXIGENCES COUVERTES</a:t>
            </a:r>
          </a:p>
        </p:txBody>
      </p:sp>
      <p:sp>
        <p:nvSpPr>
          <p:cNvPr id="9" name="Oval 8"/>
          <p:cNvSpPr/>
          <p:nvPr/>
        </p:nvSpPr>
        <p:spPr>
          <a:xfrm>
            <a:off x="960120" y="27249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2651760"/>
            <a:ext cx="4663440" cy="365760"/>
          </a:xfrm>
          <a:prstGeom prst="rect">
            <a:avLst/>
          </a:prstGeom>
          <a:noFill/>
        </p:spPr>
        <p:txBody>
          <a:bodyPr wrap="square" lIns="0" tIns="0" rIns="0" bIns="0" anchor="t">
            <a:spAutoFit/>
          </a:bodyPr>
          <a:lstStyle/>
          <a:p>
            <a:pPr algn="l"/>
            <a:r>
              <a:rPr sz="1300" b="0" i="0">
                <a:solidFill>
                  <a:srgbClr val="FFFFFF"/>
                </a:solidFill>
                <a:latin typeface="Calibri"/>
              </a:rPr>
              <a:t>GPIO  -  LEDs LD2, L0, L1 + bouton B1</a:t>
            </a:r>
          </a:p>
        </p:txBody>
      </p:sp>
      <p:sp>
        <p:nvSpPr>
          <p:cNvPr id="11" name="Oval 10"/>
          <p:cNvSpPr/>
          <p:nvPr/>
        </p:nvSpPr>
        <p:spPr>
          <a:xfrm>
            <a:off x="960120" y="31821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3108960"/>
            <a:ext cx="4663440" cy="365760"/>
          </a:xfrm>
          <a:prstGeom prst="rect">
            <a:avLst/>
          </a:prstGeom>
          <a:noFill/>
        </p:spPr>
        <p:txBody>
          <a:bodyPr wrap="square" lIns="0" tIns="0" rIns="0" bIns="0" anchor="t">
            <a:spAutoFit/>
          </a:bodyPr>
          <a:lstStyle/>
          <a:p>
            <a:pPr algn="l"/>
            <a:r>
              <a:rPr sz="1300" b="0" i="0">
                <a:solidFill>
                  <a:srgbClr val="FFFFFF"/>
                </a:solidFill>
                <a:latin typeface="Calibri"/>
              </a:rPr>
              <a:t>TIMER  -  TIM6 en mode interruption</a:t>
            </a:r>
          </a:p>
        </p:txBody>
      </p:sp>
      <p:sp>
        <p:nvSpPr>
          <p:cNvPr id="13" name="Oval 12"/>
          <p:cNvSpPr/>
          <p:nvPr/>
        </p:nvSpPr>
        <p:spPr>
          <a:xfrm>
            <a:off x="960120" y="36393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0160" y="3566160"/>
            <a:ext cx="4663440" cy="365760"/>
          </a:xfrm>
          <a:prstGeom prst="rect">
            <a:avLst/>
          </a:prstGeom>
          <a:noFill/>
        </p:spPr>
        <p:txBody>
          <a:bodyPr wrap="square" lIns="0" tIns="0" rIns="0" bIns="0" anchor="t">
            <a:spAutoFit/>
          </a:bodyPr>
          <a:lstStyle/>
          <a:p>
            <a:pPr algn="l"/>
            <a:r>
              <a:rPr sz="1300" b="0" i="0">
                <a:solidFill>
                  <a:srgbClr val="FFFFFF"/>
                </a:solidFill>
                <a:latin typeface="Calibri"/>
              </a:rPr>
              <a:t>ADC  -  optionnel, retire pour simplifier</a:t>
            </a:r>
          </a:p>
        </p:txBody>
      </p:sp>
      <p:sp>
        <p:nvSpPr>
          <p:cNvPr id="15" name="Oval 14"/>
          <p:cNvSpPr/>
          <p:nvPr/>
        </p:nvSpPr>
        <p:spPr>
          <a:xfrm>
            <a:off x="960120" y="40965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0160" y="4023360"/>
            <a:ext cx="4663440" cy="365760"/>
          </a:xfrm>
          <a:prstGeom prst="rect">
            <a:avLst/>
          </a:prstGeom>
          <a:noFill/>
        </p:spPr>
        <p:txBody>
          <a:bodyPr wrap="square" lIns="0" tIns="0" rIns="0" bIns="0" anchor="t">
            <a:spAutoFit/>
          </a:bodyPr>
          <a:lstStyle/>
          <a:p>
            <a:pPr algn="l"/>
            <a:r>
              <a:rPr sz="1300" b="0" i="0">
                <a:solidFill>
                  <a:srgbClr val="FFFFFF"/>
                </a:solidFill>
                <a:latin typeface="Calibri"/>
              </a:rPr>
              <a:t>UART  -  printf + saisie ville</a:t>
            </a:r>
          </a:p>
        </p:txBody>
      </p:sp>
      <p:sp>
        <p:nvSpPr>
          <p:cNvPr id="17" name="Oval 16"/>
          <p:cNvSpPr/>
          <p:nvPr/>
        </p:nvSpPr>
        <p:spPr>
          <a:xfrm>
            <a:off x="960120" y="45537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4480560"/>
            <a:ext cx="4663440" cy="365760"/>
          </a:xfrm>
          <a:prstGeom prst="rect">
            <a:avLst/>
          </a:prstGeom>
          <a:noFill/>
        </p:spPr>
        <p:txBody>
          <a:bodyPr wrap="square" lIns="0" tIns="0" rIns="0" bIns="0" anchor="t">
            <a:spAutoFit/>
          </a:bodyPr>
          <a:lstStyle/>
          <a:p>
            <a:pPr algn="l"/>
            <a:r>
              <a:rPr sz="1300" b="0" i="0">
                <a:solidFill>
                  <a:srgbClr val="FFFFFF"/>
                </a:solidFill>
                <a:latin typeface="Calibri"/>
              </a:rPr>
              <a:t>I2C  -  trois capteurs IKS01A3</a:t>
            </a:r>
          </a:p>
        </p:txBody>
      </p:sp>
      <p:sp>
        <p:nvSpPr>
          <p:cNvPr id="19" name="Oval 18"/>
          <p:cNvSpPr/>
          <p:nvPr/>
        </p:nvSpPr>
        <p:spPr>
          <a:xfrm>
            <a:off x="960120" y="50109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80160" y="4937760"/>
            <a:ext cx="4663440" cy="365760"/>
          </a:xfrm>
          <a:prstGeom prst="rect">
            <a:avLst/>
          </a:prstGeom>
          <a:noFill/>
        </p:spPr>
        <p:txBody>
          <a:bodyPr wrap="square" lIns="0" tIns="0" rIns="0" bIns="0" anchor="t">
            <a:spAutoFit/>
          </a:bodyPr>
          <a:lstStyle/>
          <a:p>
            <a:pPr algn="l"/>
            <a:r>
              <a:rPr sz="1300" b="0" i="0">
                <a:solidFill>
                  <a:srgbClr val="FFFFFF"/>
                </a:solidFill>
                <a:latin typeface="Calibri"/>
              </a:rPr>
              <a:t>IRQ  -  TIM6 + EXTI13 + USART2 RX (3 sur 2)</a:t>
            </a:r>
          </a:p>
        </p:txBody>
      </p:sp>
      <p:sp>
        <p:nvSpPr>
          <p:cNvPr id="21" name="Oval 20"/>
          <p:cNvSpPr/>
          <p:nvPr/>
        </p:nvSpPr>
        <p:spPr>
          <a:xfrm>
            <a:off x="960120" y="546811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80160" y="5394960"/>
            <a:ext cx="4663440" cy="365760"/>
          </a:xfrm>
          <a:prstGeom prst="rect">
            <a:avLst/>
          </a:prstGeom>
          <a:noFill/>
        </p:spPr>
        <p:txBody>
          <a:bodyPr wrap="square" lIns="0" tIns="0" rIns="0" bIns="0" anchor="t">
            <a:spAutoFit/>
          </a:bodyPr>
          <a:lstStyle/>
          <a:p>
            <a:pPr algn="l"/>
            <a:r>
              <a:rPr sz="1300" b="0" i="0">
                <a:solidFill>
                  <a:srgbClr val="FFFFFF"/>
                </a:solidFill>
                <a:latin typeface="Calibri"/>
              </a:rPr>
              <a:t>Capteurs  -  HTS221 + LPS22HH + STTS751 (3 sur 2)</a:t>
            </a:r>
          </a:p>
        </p:txBody>
      </p:sp>
      <p:sp>
        <p:nvSpPr>
          <p:cNvPr id="23" name="Rounded Rectangle 22"/>
          <p:cNvSpPr/>
          <p:nvPr/>
        </p:nvSpPr>
        <p:spPr>
          <a:xfrm>
            <a:off x="6400800" y="2011680"/>
            <a:ext cx="5120640" cy="2103120"/>
          </a:xfrm>
          <a:prstGeom prst="roundRect">
            <a:avLst>
              <a:gd name="adj" fmla="val 1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20840" y="2194560"/>
            <a:ext cx="4617720" cy="365760"/>
          </a:xfrm>
          <a:prstGeom prst="rect">
            <a:avLst/>
          </a:prstGeom>
          <a:noFill/>
        </p:spPr>
        <p:txBody>
          <a:bodyPr wrap="square" lIns="0" tIns="0" rIns="0" bIns="0" anchor="t">
            <a:spAutoFit/>
          </a:bodyPr>
          <a:lstStyle/>
          <a:p>
            <a:pPr algn="l"/>
            <a:r>
              <a:rPr sz="1100" b="1" i="0">
                <a:solidFill>
                  <a:srgbClr val="F59E0B"/>
                </a:solidFill>
                <a:latin typeface="Consolas"/>
              </a:rPr>
              <a:t>PISTES D'AMELIORATION</a:t>
            </a:r>
          </a:p>
        </p:txBody>
      </p:sp>
      <p:sp>
        <p:nvSpPr>
          <p:cNvPr id="25" name="TextBox 24"/>
          <p:cNvSpPr txBox="1"/>
          <p:nvPr/>
        </p:nvSpPr>
        <p:spPr>
          <a:xfrm>
            <a:off x="6720840" y="2606040"/>
            <a:ext cx="274320" cy="274320"/>
          </a:xfrm>
          <a:prstGeom prst="rect">
            <a:avLst/>
          </a:prstGeom>
          <a:noFill/>
        </p:spPr>
        <p:txBody>
          <a:bodyPr wrap="square" lIns="0" tIns="0" rIns="0" bIns="0" anchor="t">
            <a:spAutoFit/>
          </a:bodyPr>
          <a:lstStyle/>
          <a:p>
            <a:pPr algn="l"/>
            <a:r>
              <a:rPr sz="1200" b="0" i="0">
                <a:solidFill>
                  <a:srgbClr val="F59E0B"/>
                </a:solidFill>
                <a:latin typeface="Consolas"/>
              </a:rPr>
              <a:t>►</a:t>
            </a:r>
          </a:p>
        </p:txBody>
      </p:sp>
      <p:sp>
        <p:nvSpPr>
          <p:cNvPr id="26" name="TextBox 25"/>
          <p:cNvSpPr txBox="1"/>
          <p:nvPr/>
        </p:nvSpPr>
        <p:spPr>
          <a:xfrm>
            <a:off x="7040880" y="2606040"/>
            <a:ext cx="4297680" cy="274320"/>
          </a:xfrm>
          <a:prstGeom prst="rect">
            <a:avLst/>
          </a:prstGeom>
          <a:noFill/>
        </p:spPr>
        <p:txBody>
          <a:bodyPr wrap="square" lIns="0" tIns="0" rIns="0" bIns="0" anchor="t">
            <a:spAutoFit/>
          </a:bodyPr>
          <a:lstStyle/>
          <a:p>
            <a:pPr algn="l"/>
            <a:r>
              <a:rPr sz="1300" b="0" i="0">
                <a:solidFill>
                  <a:srgbClr val="FFFFFF"/>
                </a:solidFill>
                <a:latin typeface="Calibri"/>
              </a:rPr>
              <a:t>Affichage local sur MAX7219 (SPI1)</a:t>
            </a:r>
          </a:p>
        </p:txBody>
      </p:sp>
      <p:sp>
        <p:nvSpPr>
          <p:cNvPr id="27" name="TextBox 26"/>
          <p:cNvSpPr txBox="1"/>
          <p:nvPr/>
        </p:nvSpPr>
        <p:spPr>
          <a:xfrm>
            <a:off x="6720840" y="2926080"/>
            <a:ext cx="274320" cy="274320"/>
          </a:xfrm>
          <a:prstGeom prst="rect">
            <a:avLst/>
          </a:prstGeom>
          <a:noFill/>
        </p:spPr>
        <p:txBody>
          <a:bodyPr wrap="square" lIns="0" tIns="0" rIns="0" bIns="0" anchor="t">
            <a:spAutoFit/>
          </a:bodyPr>
          <a:lstStyle/>
          <a:p>
            <a:pPr algn="l"/>
            <a:r>
              <a:rPr sz="1200" b="0" i="0">
                <a:solidFill>
                  <a:srgbClr val="F59E0B"/>
                </a:solidFill>
                <a:latin typeface="Consolas"/>
              </a:rPr>
              <a:t>►</a:t>
            </a:r>
          </a:p>
        </p:txBody>
      </p:sp>
      <p:sp>
        <p:nvSpPr>
          <p:cNvPr id="28" name="TextBox 27"/>
          <p:cNvSpPr txBox="1"/>
          <p:nvPr/>
        </p:nvSpPr>
        <p:spPr>
          <a:xfrm>
            <a:off x="7040880" y="2926080"/>
            <a:ext cx="4297680" cy="274320"/>
          </a:xfrm>
          <a:prstGeom prst="rect">
            <a:avLst/>
          </a:prstGeom>
          <a:noFill/>
        </p:spPr>
        <p:txBody>
          <a:bodyPr wrap="square" lIns="0" tIns="0" rIns="0" bIns="0" anchor="t">
            <a:spAutoFit/>
          </a:bodyPr>
          <a:lstStyle/>
          <a:p>
            <a:pPr algn="l"/>
            <a:r>
              <a:rPr sz="1300" b="0" i="0">
                <a:solidFill>
                  <a:srgbClr val="FFFFFF"/>
                </a:solidFill>
                <a:latin typeface="Calibri"/>
              </a:rPr>
              <a:t>Lecture ADC en DMA + journalisation EEPROM</a:t>
            </a:r>
          </a:p>
        </p:txBody>
      </p:sp>
      <p:sp>
        <p:nvSpPr>
          <p:cNvPr id="29" name="TextBox 28"/>
          <p:cNvSpPr txBox="1"/>
          <p:nvPr/>
        </p:nvSpPr>
        <p:spPr>
          <a:xfrm>
            <a:off x="6720840" y="3246120"/>
            <a:ext cx="274320" cy="274320"/>
          </a:xfrm>
          <a:prstGeom prst="rect">
            <a:avLst/>
          </a:prstGeom>
          <a:noFill/>
        </p:spPr>
        <p:txBody>
          <a:bodyPr wrap="square" lIns="0" tIns="0" rIns="0" bIns="0" anchor="t">
            <a:spAutoFit/>
          </a:bodyPr>
          <a:lstStyle/>
          <a:p>
            <a:pPr algn="l"/>
            <a:r>
              <a:rPr sz="1200" b="0" i="0">
                <a:solidFill>
                  <a:srgbClr val="F59E0B"/>
                </a:solidFill>
                <a:latin typeface="Consolas"/>
              </a:rPr>
              <a:t>►</a:t>
            </a:r>
          </a:p>
        </p:txBody>
      </p:sp>
      <p:sp>
        <p:nvSpPr>
          <p:cNvPr id="30" name="TextBox 29"/>
          <p:cNvSpPr txBox="1"/>
          <p:nvPr/>
        </p:nvSpPr>
        <p:spPr>
          <a:xfrm>
            <a:off x="7040880" y="3246120"/>
            <a:ext cx="4297680" cy="274320"/>
          </a:xfrm>
          <a:prstGeom prst="rect">
            <a:avLst/>
          </a:prstGeom>
          <a:noFill/>
        </p:spPr>
        <p:txBody>
          <a:bodyPr wrap="square" lIns="0" tIns="0" rIns="0" bIns="0" anchor="t">
            <a:spAutoFit/>
          </a:bodyPr>
          <a:lstStyle/>
          <a:p>
            <a:pPr algn="l"/>
            <a:r>
              <a:rPr sz="1300" b="0" i="0">
                <a:solidFill>
                  <a:srgbClr val="FFFFFF"/>
                </a:solidFill>
                <a:latin typeface="Calibri"/>
              </a:rPr>
              <a:t>Calcul point de rosee + pression mer</a:t>
            </a:r>
          </a:p>
        </p:txBody>
      </p:sp>
      <p:sp>
        <p:nvSpPr>
          <p:cNvPr id="31" name="TextBox 30"/>
          <p:cNvSpPr txBox="1"/>
          <p:nvPr/>
        </p:nvSpPr>
        <p:spPr>
          <a:xfrm>
            <a:off x="6720840" y="3566160"/>
            <a:ext cx="274320" cy="274320"/>
          </a:xfrm>
          <a:prstGeom prst="rect">
            <a:avLst/>
          </a:prstGeom>
          <a:noFill/>
        </p:spPr>
        <p:txBody>
          <a:bodyPr wrap="square" lIns="0" tIns="0" rIns="0" bIns="0" anchor="t">
            <a:spAutoFit/>
          </a:bodyPr>
          <a:lstStyle/>
          <a:p>
            <a:pPr algn="l"/>
            <a:r>
              <a:rPr sz="1200" b="0" i="0">
                <a:solidFill>
                  <a:srgbClr val="F59E0B"/>
                </a:solidFill>
                <a:latin typeface="Consolas"/>
              </a:rPr>
              <a:t>►</a:t>
            </a:r>
          </a:p>
        </p:txBody>
      </p:sp>
      <p:sp>
        <p:nvSpPr>
          <p:cNvPr id="32" name="TextBox 31"/>
          <p:cNvSpPr txBox="1"/>
          <p:nvPr/>
        </p:nvSpPr>
        <p:spPr>
          <a:xfrm>
            <a:off x="7040880" y="3566160"/>
            <a:ext cx="4297680" cy="274320"/>
          </a:xfrm>
          <a:prstGeom prst="rect">
            <a:avLst/>
          </a:prstGeom>
          <a:noFill/>
        </p:spPr>
        <p:txBody>
          <a:bodyPr wrap="square" lIns="0" tIns="0" rIns="0" bIns="0" anchor="t">
            <a:spAutoFit/>
          </a:bodyPr>
          <a:lstStyle/>
          <a:p>
            <a:pPr algn="l"/>
            <a:r>
              <a:rPr sz="1300" b="0" i="0">
                <a:solidFill>
                  <a:srgbClr val="FFFFFF"/>
                </a:solidFill>
                <a:latin typeface="Calibri"/>
              </a:rPr>
              <a:t>Transport sans fil : LoRa ou BLE</a:t>
            </a:r>
          </a:p>
        </p:txBody>
      </p:sp>
      <p:sp>
        <p:nvSpPr>
          <p:cNvPr id="33" name="Rounded Rectangle 32"/>
          <p:cNvSpPr/>
          <p:nvPr/>
        </p:nvSpPr>
        <p:spPr>
          <a:xfrm>
            <a:off x="6400800" y="4297680"/>
            <a:ext cx="5120640" cy="1737360"/>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434840"/>
            <a:ext cx="5120640" cy="548640"/>
          </a:xfrm>
          <a:prstGeom prst="rect">
            <a:avLst/>
          </a:prstGeom>
          <a:noFill/>
        </p:spPr>
        <p:txBody>
          <a:bodyPr wrap="square" lIns="0" tIns="0" rIns="0" bIns="0" anchor="t">
            <a:spAutoFit/>
          </a:bodyPr>
          <a:lstStyle/>
          <a:p>
            <a:pPr algn="ctr"/>
            <a:r>
              <a:rPr sz="2000" b="1" i="0">
                <a:solidFill>
                  <a:srgbClr val="FFFFFF"/>
                </a:solidFill>
                <a:latin typeface="Calibri"/>
              </a:rPr>
              <a:t>MERCI POUR VOTRE ATTENTION</a:t>
            </a:r>
          </a:p>
        </p:txBody>
      </p:sp>
      <p:sp>
        <p:nvSpPr>
          <p:cNvPr id="35" name="TextBox 34"/>
          <p:cNvSpPr txBox="1"/>
          <p:nvPr/>
        </p:nvSpPr>
        <p:spPr>
          <a:xfrm>
            <a:off x="6400800" y="5074920"/>
            <a:ext cx="5120640" cy="457200"/>
          </a:xfrm>
          <a:prstGeom prst="rect">
            <a:avLst/>
          </a:prstGeom>
          <a:noFill/>
        </p:spPr>
        <p:txBody>
          <a:bodyPr wrap="square" lIns="0" tIns="0" rIns="0" bIns="0" anchor="t">
            <a:spAutoFit/>
          </a:bodyPr>
          <a:lstStyle/>
          <a:p>
            <a:pPr algn="ctr"/>
            <a:r>
              <a:rPr sz="1800" b="0" i="1">
                <a:solidFill>
                  <a:srgbClr val="FFFFFF"/>
                </a:solidFill>
                <a:latin typeface="Calibri"/>
              </a:rPr>
              <a:t>Questions ?</a:t>
            </a:r>
          </a:p>
        </p:txBody>
      </p:sp>
      <p:sp>
        <p:nvSpPr>
          <p:cNvPr id="36" name="TextBox 35"/>
          <p:cNvSpPr txBox="1"/>
          <p:nvPr/>
        </p:nvSpPr>
        <p:spPr>
          <a:xfrm>
            <a:off x="6400800" y="5532120"/>
            <a:ext cx="5120640" cy="184666"/>
          </a:xfrm>
          <a:prstGeom prst="rect">
            <a:avLst/>
          </a:prstGeom>
          <a:noFill/>
        </p:spPr>
        <p:txBody>
          <a:bodyPr wrap="square" lIns="0" tIns="0" rIns="0" bIns="0" anchor="t">
            <a:spAutoFit/>
          </a:bodyPr>
          <a:lstStyle/>
          <a:p>
            <a:pPr algn="ctr"/>
            <a:r>
              <a:rPr sz="1200" b="0" i="0" dirty="0">
                <a:solidFill>
                  <a:srgbClr val="FEF3C7"/>
                </a:solidFill>
                <a:latin typeface="Calibri"/>
              </a:rPr>
              <a:t>Equipe : </a:t>
            </a:r>
            <a:r>
              <a:rPr lang="fr-FR" sz="1200" dirty="0">
                <a:solidFill>
                  <a:srgbClr val="FEF3C7"/>
                </a:solidFill>
                <a:latin typeface="Calibri"/>
              </a:rPr>
              <a:t>Baptiste</a:t>
            </a:r>
            <a:r>
              <a:rPr sz="1200" b="0" i="0" dirty="0">
                <a:solidFill>
                  <a:srgbClr val="FEF3C7"/>
                </a:solidFill>
                <a:latin typeface="Calibri"/>
              </a:rPr>
              <a:t> - </a:t>
            </a:r>
            <a:r>
              <a:rPr lang="fr-FR" sz="1200" dirty="0">
                <a:solidFill>
                  <a:srgbClr val="FEF3C7"/>
                </a:solidFill>
                <a:latin typeface="Calibri"/>
              </a:rPr>
              <a:t>Mathias</a:t>
            </a:r>
            <a:r>
              <a:rPr sz="1200" b="0" i="0" dirty="0">
                <a:solidFill>
                  <a:srgbClr val="FEF3C7"/>
                </a:solidFill>
                <a:latin typeface="Calibri"/>
              </a:rPr>
              <a:t> - </a:t>
            </a:r>
            <a:r>
              <a:rPr lang="fr-FR" sz="1200" dirty="0">
                <a:solidFill>
                  <a:srgbClr val="FEF3C7"/>
                </a:solidFill>
                <a:latin typeface="Calibri"/>
              </a:rPr>
              <a:t>Raphael</a:t>
            </a:r>
            <a:endParaRPr sz="1200" b="0" i="0" dirty="0">
              <a:solidFill>
                <a:srgbClr val="FEF3C7"/>
              </a:solidFill>
              <a:latin typeface="Calibri"/>
            </a:endParaRPr>
          </a:p>
        </p:txBody>
      </p:sp>
      <p:sp>
        <p:nvSpPr>
          <p:cNvPr id="37" name="TextBox 36"/>
          <p:cNvSpPr txBox="1"/>
          <p:nvPr/>
        </p:nvSpPr>
        <p:spPr>
          <a:xfrm>
            <a:off x="640080" y="6446520"/>
            <a:ext cx="10058400" cy="320040"/>
          </a:xfrm>
          <a:prstGeom prst="rect">
            <a:avLst/>
          </a:prstGeom>
          <a:noFill/>
        </p:spPr>
        <p:txBody>
          <a:bodyPr wrap="square" lIns="0" tIns="0" rIns="0" bIns="0" anchor="t">
            <a:spAutoFit/>
          </a:bodyPr>
          <a:lstStyle/>
          <a:p>
            <a:pPr algn="l"/>
            <a:r>
              <a:rPr sz="1000" b="0" i="1">
                <a:solidFill>
                  <a:srgbClr val="CBD5E1"/>
                </a:solidFill>
                <a:latin typeface="Calibri"/>
              </a:rPr>
              <a:t>STM32 Meteo Station - NUCLEO-L152RE + X-NUCLEO-IKS01A3 - P23MRS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1988</Words>
  <Application>Microsoft Office PowerPoint</Application>
  <PresentationFormat>Grand écran</PresentationFormat>
  <Paragraphs>177</Paragraphs>
  <Slides>6</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vt:i4>
      </vt:variant>
    </vt:vector>
  </HeadingPairs>
  <TitlesOfParts>
    <vt:vector size="10"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Raphael MOSTACCI</cp:lastModifiedBy>
  <cp:revision>5</cp:revision>
  <dcterms:created xsi:type="dcterms:W3CDTF">2013-01-27T09:14:16Z</dcterms:created>
  <dcterms:modified xsi:type="dcterms:W3CDTF">2026-06-01T07:52:03Z</dcterms:modified>
  <cp:category/>
</cp:coreProperties>
</file>